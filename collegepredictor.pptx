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2" r:id="rId6"/>
    <p:sldId id="260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74" r:id="rId15"/>
    <p:sldId id="275" r:id="rId16"/>
    <p:sldId id="276" r:id="rId17"/>
    <p:sldId id="277" r:id="rId18"/>
    <p:sldId id="278" r:id="rId19"/>
    <p:sldId id="269" r:id="rId20"/>
    <p:sldId id="270" r:id="rId21"/>
    <p:sldId id="271" r:id="rId2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37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E57DF-14DF-42CA-9696-6BD94CCD474E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0A25A-C25D-41D9-86C0-8E409019B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94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50A25A-C25D-41D9-86C0-8E409019BB9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69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0145" y="255632"/>
            <a:ext cx="3140710" cy="572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586208"/>
            <a:ext cx="494030" cy="3070860"/>
          </a:xfrm>
          <a:custGeom>
            <a:avLst/>
            <a:gdLst/>
            <a:ahLst/>
            <a:cxnLst/>
            <a:rect l="l" t="t" r="r" b="b"/>
            <a:pathLst>
              <a:path w="494030" h="3070859">
                <a:moveTo>
                  <a:pt x="493585" y="3070367"/>
                </a:moveTo>
                <a:lnTo>
                  <a:pt x="0" y="3070367"/>
                </a:lnTo>
                <a:lnTo>
                  <a:pt x="0" y="0"/>
                </a:lnTo>
                <a:lnTo>
                  <a:pt x="493585" y="3070367"/>
                </a:lnTo>
                <a:close/>
              </a:path>
            </a:pathLst>
          </a:custGeom>
          <a:solidFill>
            <a:srgbClr val="5ECAEF">
              <a:alpha val="69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586208"/>
            <a:ext cx="494030" cy="3070860"/>
          </a:xfrm>
          <a:custGeom>
            <a:avLst/>
            <a:gdLst/>
            <a:ahLst/>
            <a:cxnLst/>
            <a:rect l="l" t="t" r="r" b="b"/>
            <a:pathLst>
              <a:path w="494030" h="3070859">
                <a:moveTo>
                  <a:pt x="493585" y="3070367"/>
                </a:moveTo>
                <a:lnTo>
                  <a:pt x="0" y="3070367"/>
                </a:lnTo>
                <a:lnTo>
                  <a:pt x="0" y="0"/>
                </a:lnTo>
                <a:lnTo>
                  <a:pt x="493585" y="3070367"/>
                </a:lnTo>
                <a:close/>
              </a:path>
            </a:pathLst>
          </a:custGeom>
          <a:solidFill>
            <a:srgbClr val="5ECAEF">
              <a:alpha val="69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39549" y="114299"/>
            <a:ext cx="4418965" cy="7542530"/>
          </a:xfrm>
          <a:custGeom>
            <a:avLst/>
            <a:gdLst/>
            <a:ahLst/>
            <a:cxnLst/>
            <a:rect l="l" t="t" r="r" b="b"/>
            <a:pathLst>
              <a:path w="4418965" h="7542530">
                <a:moveTo>
                  <a:pt x="4418850" y="4593856"/>
                </a:moveTo>
                <a:lnTo>
                  <a:pt x="3086722" y="5482247"/>
                </a:lnTo>
                <a:lnTo>
                  <a:pt x="2113026" y="0"/>
                </a:lnTo>
                <a:lnTo>
                  <a:pt x="2103882" y="0"/>
                </a:lnTo>
                <a:lnTo>
                  <a:pt x="2103882" y="1524"/>
                </a:lnTo>
                <a:lnTo>
                  <a:pt x="3078315" y="5487848"/>
                </a:lnTo>
                <a:lnTo>
                  <a:pt x="2286" y="7539228"/>
                </a:lnTo>
                <a:lnTo>
                  <a:pt x="762" y="7540752"/>
                </a:lnTo>
                <a:lnTo>
                  <a:pt x="0" y="7542276"/>
                </a:lnTo>
                <a:lnTo>
                  <a:pt x="16002" y="7542276"/>
                </a:lnTo>
                <a:lnTo>
                  <a:pt x="3080080" y="5497804"/>
                </a:lnTo>
                <a:lnTo>
                  <a:pt x="3443211" y="7542289"/>
                </a:lnTo>
                <a:lnTo>
                  <a:pt x="3452622" y="7542289"/>
                </a:lnTo>
                <a:lnTo>
                  <a:pt x="3088500" y="5492191"/>
                </a:lnTo>
                <a:lnTo>
                  <a:pt x="4418850" y="4604524"/>
                </a:lnTo>
                <a:lnTo>
                  <a:pt x="4418850" y="4593856"/>
                </a:lnTo>
                <a:close/>
              </a:path>
            </a:pathLst>
          </a:custGeom>
          <a:solidFill>
            <a:srgbClr val="5ECAEF">
              <a:alpha val="69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82349" y="114299"/>
            <a:ext cx="2476500" cy="7542530"/>
          </a:xfrm>
          <a:custGeom>
            <a:avLst/>
            <a:gdLst/>
            <a:ahLst/>
            <a:cxnLst/>
            <a:rect l="l" t="t" r="r" b="b"/>
            <a:pathLst>
              <a:path w="2476500" h="7542530">
                <a:moveTo>
                  <a:pt x="2476050" y="7542276"/>
                </a:moveTo>
                <a:lnTo>
                  <a:pt x="0" y="7542276"/>
                </a:lnTo>
                <a:lnTo>
                  <a:pt x="2224590" y="0"/>
                </a:lnTo>
                <a:lnTo>
                  <a:pt x="2476050" y="10233"/>
                </a:lnTo>
                <a:lnTo>
                  <a:pt x="2476050" y="7542276"/>
                </a:lnTo>
                <a:close/>
              </a:path>
            </a:pathLst>
          </a:custGeom>
          <a:solidFill>
            <a:srgbClr val="5ECAEF">
              <a:alpha val="3593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926401" y="114299"/>
            <a:ext cx="2132330" cy="7542530"/>
          </a:xfrm>
          <a:custGeom>
            <a:avLst/>
            <a:gdLst/>
            <a:ahLst/>
            <a:cxnLst/>
            <a:rect l="l" t="t" r="r" b="b"/>
            <a:pathLst>
              <a:path w="2132329" h="7542530">
                <a:moveTo>
                  <a:pt x="2131998" y="7542276"/>
                </a:moveTo>
                <a:lnTo>
                  <a:pt x="1320963" y="7542276"/>
                </a:lnTo>
                <a:lnTo>
                  <a:pt x="0" y="0"/>
                </a:lnTo>
                <a:lnTo>
                  <a:pt x="2131998" y="0"/>
                </a:lnTo>
                <a:lnTo>
                  <a:pt x="2131998" y="7542276"/>
                </a:lnTo>
                <a:close/>
              </a:path>
            </a:pathLst>
          </a:custGeom>
          <a:solidFill>
            <a:srgbClr val="5ECAEF">
              <a:alpha val="19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04308" y="4429006"/>
            <a:ext cx="2754630" cy="3227705"/>
          </a:xfrm>
          <a:custGeom>
            <a:avLst/>
            <a:gdLst/>
            <a:ahLst/>
            <a:cxnLst/>
            <a:rect l="l" t="t" r="r" b="b"/>
            <a:pathLst>
              <a:path w="2754629" h="3227704">
                <a:moveTo>
                  <a:pt x="2754092" y="3227570"/>
                </a:moveTo>
                <a:lnTo>
                  <a:pt x="0" y="3227570"/>
                </a:lnTo>
                <a:lnTo>
                  <a:pt x="2754092" y="0"/>
                </a:lnTo>
                <a:lnTo>
                  <a:pt x="2754092" y="3227570"/>
                </a:lnTo>
                <a:close/>
              </a:path>
            </a:pathLst>
          </a:custGeom>
          <a:solidFill>
            <a:srgbClr val="16AFE4">
              <a:alpha val="6562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713912" y="114299"/>
            <a:ext cx="2345055" cy="7542530"/>
          </a:xfrm>
          <a:custGeom>
            <a:avLst/>
            <a:gdLst/>
            <a:ahLst/>
            <a:cxnLst/>
            <a:rect l="l" t="t" r="r" b="b"/>
            <a:pathLst>
              <a:path w="2345054" h="7542530">
                <a:moveTo>
                  <a:pt x="2092255" y="7542276"/>
                </a:moveTo>
                <a:lnTo>
                  <a:pt x="2039276" y="7542276"/>
                </a:lnTo>
                <a:lnTo>
                  <a:pt x="0" y="0"/>
                </a:lnTo>
                <a:lnTo>
                  <a:pt x="2344488" y="0"/>
                </a:lnTo>
                <a:lnTo>
                  <a:pt x="2344488" y="7534965"/>
                </a:lnTo>
                <a:lnTo>
                  <a:pt x="2092255" y="7542276"/>
                </a:lnTo>
                <a:close/>
              </a:path>
            </a:pathLst>
          </a:custGeom>
          <a:solidFill>
            <a:srgbClr val="16AFE4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125862" y="114299"/>
            <a:ext cx="932815" cy="7542530"/>
          </a:xfrm>
          <a:custGeom>
            <a:avLst/>
            <a:gdLst/>
            <a:ahLst/>
            <a:cxnLst/>
            <a:rect l="l" t="t" r="r" b="b"/>
            <a:pathLst>
              <a:path w="932815" h="7542530">
                <a:moveTo>
                  <a:pt x="932537" y="7542276"/>
                </a:moveTo>
                <a:lnTo>
                  <a:pt x="0" y="7542276"/>
                </a:lnTo>
                <a:lnTo>
                  <a:pt x="744182" y="0"/>
                </a:lnTo>
                <a:lnTo>
                  <a:pt x="932537" y="0"/>
                </a:lnTo>
                <a:lnTo>
                  <a:pt x="932537" y="7542276"/>
                </a:lnTo>
                <a:close/>
              </a:path>
            </a:pathLst>
          </a:custGeom>
          <a:solidFill>
            <a:srgbClr val="2D83C3">
              <a:alpha val="69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05981" y="114299"/>
            <a:ext cx="1152525" cy="7542530"/>
          </a:xfrm>
          <a:custGeom>
            <a:avLst/>
            <a:gdLst/>
            <a:ahLst/>
            <a:cxnLst/>
            <a:rect l="l" t="t" r="r" b="b"/>
            <a:pathLst>
              <a:path w="1152525" h="7542530">
                <a:moveTo>
                  <a:pt x="1152418" y="7542276"/>
                </a:moveTo>
                <a:lnTo>
                  <a:pt x="1030290" y="7542276"/>
                </a:lnTo>
                <a:lnTo>
                  <a:pt x="0" y="0"/>
                </a:lnTo>
                <a:lnTo>
                  <a:pt x="1152418" y="0"/>
                </a:lnTo>
                <a:lnTo>
                  <a:pt x="1152418" y="7542276"/>
                </a:lnTo>
                <a:close/>
              </a:path>
            </a:pathLst>
          </a:custGeom>
          <a:solidFill>
            <a:srgbClr val="236291">
              <a:alpha val="816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876621" y="5524561"/>
            <a:ext cx="1182370" cy="2132330"/>
          </a:xfrm>
          <a:custGeom>
            <a:avLst/>
            <a:gdLst/>
            <a:ahLst/>
            <a:cxnLst/>
            <a:rect l="l" t="t" r="r" b="b"/>
            <a:pathLst>
              <a:path w="1182370" h="2132329">
                <a:moveTo>
                  <a:pt x="300087" y="2132014"/>
                </a:moveTo>
                <a:lnTo>
                  <a:pt x="0" y="2132014"/>
                </a:lnTo>
                <a:lnTo>
                  <a:pt x="1181779" y="0"/>
                </a:lnTo>
                <a:lnTo>
                  <a:pt x="1181779" y="2127550"/>
                </a:lnTo>
                <a:lnTo>
                  <a:pt x="300087" y="2132014"/>
                </a:lnTo>
                <a:close/>
              </a:path>
            </a:pathLst>
          </a:custGeom>
          <a:solidFill>
            <a:srgbClr val="16AFE4">
              <a:alpha val="6562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145" y="531307"/>
            <a:ext cx="7097366" cy="843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5467" y="1581911"/>
            <a:ext cx="9500870" cy="5307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840991"/>
            <a:ext cx="10058400" cy="26034"/>
          </a:xfrm>
          <a:custGeom>
            <a:avLst/>
            <a:gdLst/>
            <a:ahLst/>
            <a:cxnLst/>
            <a:rect l="l" t="t" r="r" b="b"/>
            <a:pathLst>
              <a:path w="10058400" h="26035">
                <a:moveTo>
                  <a:pt x="0" y="0"/>
                </a:moveTo>
                <a:lnTo>
                  <a:pt x="10058400" y="0"/>
                </a:lnTo>
                <a:lnTo>
                  <a:pt x="10058400" y="25908"/>
                </a:lnTo>
                <a:lnTo>
                  <a:pt x="0" y="259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583" y="294132"/>
            <a:ext cx="7688580" cy="13685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4890" y="3299014"/>
            <a:ext cx="8396605" cy="4043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180" algn="l"/>
              </a:tabLst>
            </a:pPr>
            <a:r>
              <a:rPr sz="2400" b="1" dirty="0">
                <a:latin typeface="Times New Roman"/>
                <a:cs typeface="Times New Roman"/>
              </a:rPr>
              <a:t>Theme-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3FCDE6"/>
                </a:solidFill>
                <a:uFill>
                  <a:solidFill>
                    <a:srgbClr val="3FCDE6"/>
                  </a:solidFill>
                </a:uFill>
                <a:latin typeface="Times New Roman"/>
                <a:cs typeface="Times New Roman"/>
              </a:rPr>
              <a:t>SDG</a:t>
            </a:r>
            <a:r>
              <a:rPr sz="2400" b="1" u="sng" spc="-5" dirty="0">
                <a:solidFill>
                  <a:srgbClr val="3FCDE6"/>
                </a:solidFill>
                <a:uFill>
                  <a:solidFill>
                    <a:srgbClr val="3FCDE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3FCDE6"/>
                </a:solidFill>
                <a:uFill>
                  <a:solidFill>
                    <a:srgbClr val="3FCDE6"/>
                  </a:solidFill>
                </a:uFill>
                <a:latin typeface="Times New Roman"/>
                <a:cs typeface="Times New Roman"/>
              </a:rPr>
              <a:t>Goals</a:t>
            </a:r>
            <a:r>
              <a:rPr sz="2400" b="1" u="none" spc="-80" dirty="0">
                <a:solidFill>
                  <a:srgbClr val="3FCDE6"/>
                </a:solidFill>
                <a:latin typeface="Times New Roman"/>
                <a:cs typeface="Times New Roman"/>
              </a:rPr>
              <a:t> </a:t>
            </a:r>
            <a:r>
              <a:rPr sz="2400" b="1" u="none" dirty="0">
                <a:latin typeface="Times New Roman"/>
                <a:cs typeface="Times New Roman"/>
              </a:rPr>
              <a:t>&lt;</a:t>
            </a:r>
            <a:r>
              <a:rPr sz="2400" b="1" u="none" spc="-30" dirty="0">
                <a:latin typeface="Times New Roman"/>
                <a:cs typeface="Times New Roman"/>
              </a:rPr>
              <a:t> </a:t>
            </a:r>
            <a:r>
              <a:rPr sz="2400" b="1" u="none" dirty="0">
                <a:latin typeface="Times New Roman"/>
                <a:cs typeface="Times New Roman"/>
              </a:rPr>
              <a:t>SDG</a:t>
            </a:r>
            <a:r>
              <a:rPr sz="2400" b="1" u="none" spc="-25" dirty="0">
                <a:latin typeface="Times New Roman"/>
                <a:cs typeface="Times New Roman"/>
              </a:rPr>
              <a:t> </a:t>
            </a:r>
            <a:r>
              <a:rPr sz="2400" b="1" u="none" dirty="0">
                <a:latin typeface="Times New Roman"/>
                <a:cs typeface="Times New Roman"/>
              </a:rPr>
              <a:t>4:</a:t>
            </a:r>
            <a:r>
              <a:rPr sz="2400" b="1" u="none" spc="-40" dirty="0">
                <a:latin typeface="Times New Roman"/>
                <a:cs typeface="Times New Roman"/>
              </a:rPr>
              <a:t> </a:t>
            </a:r>
            <a:r>
              <a:rPr sz="2400" b="1" u="none" dirty="0">
                <a:latin typeface="Times New Roman"/>
                <a:cs typeface="Times New Roman"/>
              </a:rPr>
              <a:t>Quality</a:t>
            </a:r>
            <a:r>
              <a:rPr sz="2400" b="1" u="none" spc="-75" dirty="0">
                <a:latin typeface="Times New Roman"/>
                <a:cs typeface="Times New Roman"/>
              </a:rPr>
              <a:t> </a:t>
            </a:r>
            <a:r>
              <a:rPr sz="2400" b="1" u="none" dirty="0">
                <a:latin typeface="Times New Roman"/>
                <a:cs typeface="Times New Roman"/>
              </a:rPr>
              <a:t>Education</a:t>
            </a:r>
            <a:r>
              <a:rPr sz="2400" b="1" u="none" spc="-45" dirty="0">
                <a:latin typeface="Times New Roman"/>
                <a:cs typeface="Times New Roman"/>
              </a:rPr>
              <a:t> </a:t>
            </a:r>
            <a:r>
              <a:rPr sz="2400" b="1" u="none" spc="-60" dirty="0">
                <a:latin typeface="Times New Roman"/>
                <a:cs typeface="Times New Roman"/>
              </a:rPr>
              <a:t>&gt;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buFont typeface="Arial"/>
              <a:buChar char="•"/>
              <a:tabLst>
                <a:tab pos="297180" algn="l"/>
              </a:tabLst>
            </a:pPr>
            <a:r>
              <a:rPr sz="2400" b="1" dirty="0">
                <a:latin typeface="Times New Roman"/>
                <a:cs typeface="Times New Roman"/>
              </a:rPr>
              <a:t>Category-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Software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buFont typeface="Arial"/>
              <a:buChar char="•"/>
              <a:tabLst>
                <a:tab pos="297180" algn="l"/>
                <a:tab pos="1934210" algn="l"/>
              </a:tabLst>
            </a:pPr>
            <a:r>
              <a:rPr sz="2400" b="1" dirty="0">
                <a:latin typeface="Times New Roman"/>
                <a:cs typeface="Times New Roman"/>
              </a:rPr>
              <a:t>Group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</a:t>
            </a:r>
            <a:r>
              <a:rPr sz="2400" b="1" spc="-50" dirty="0">
                <a:latin typeface="Times New Roman"/>
                <a:cs typeface="Times New Roman"/>
              </a:rPr>
              <a:t> -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50" dirty="0">
                <a:latin typeface="Times New Roman"/>
                <a:cs typeface="Times New Roman"/>
              </a:rPr>
              <a:t>8</a:t>
            </a:r>
            <a:endParaRPr sz="2400" dirty="0">
              <a:latin typeface="Times New Roman"/>
              <a:cs typeface="Times New Roman"/>
            </a:endParaRPr>
          </a:p>
          <a:p>
            <a:pPr marL="297180" marR="5080" indent="-285115">
              <a:lnSpc>
                <a:spcPct val="199600"/>
              </a:lnSpc>
              <a:buFont typeface="Arial"/>
              <a:buChar char="•"/>
              <a:tabLst>
                <a:tab pos="297180" algn="l"/>
              </a:tabLst>
            </a:pPr>
            <a:r>
              <a:rPr sz="2400" b="1" dirty="0">
                <a:latin typeface="Times New Roman"/>
                <a:cs typeface="Times New Roman"/>
              </a:rPr>
              <a:t>Group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Members-</a:t>
            </a:r>
            <a:r>
              <a:rPr sz="2400" b="1" spc="1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Ananya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Dongare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Arya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Ghole</a:t>
            </a:r>
            <a:r>
              <a:rPr sz="2400" b="1" spc="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Kimaya</a:t>
            </a:r>
            <a:r>
              <a:rPr sz="2400" b="1" spc="14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K </a:t>
            </a:r>
            <a:r>
              <a:rPr sz="2400" b="1" dirty="0">
                <a:latin typeface="Times New Roman"/>
                <a:cs typeface="Times New Roman"/>
              </a:rPr>
              <a:t>Kanyalkar</a:t>
            </a:r>
            <a:r>
              <a:rPr sz="2400" b="1" spc="-1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Sanika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Jawane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buFont typeface="Arial"/>
              <a:buChar char="•"/>
              <a:tabLst>
                <a:tab pos="297180" algn="l"/>
              </a:tabLst>
            </a:pPr>
            <a:r>
              <a:rPr sz="2400" b="1" dirty="0">
                <a:latin typeface="Times New Roman"/>
                <a:cs typeface="Times New Roman"/>
              </a:rPr>
              <a:t>Guide-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Prof.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Snehal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Kangane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30555" y="2060201"/>
            <a:ext cx="8797290" cy="8981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783590" marR="5080" indent="-771525" algn="ctr">
              <a:lnSpc>
                <a:spcPct val="80000"/>
              </a:lnSpc>
              <a:spcBef>
                <a:spcPts val="860"/>
              </a:spcBef>
            </a:pPr>
            <a:r>
              <a:rPr lang="en-US" sz="3200" dirty="0"/>
              <a:t>Deterministic College </a:t>
            </a:r>
            <a:r>
              <a:rPr lang="en-US" sz="3200" dirty="0" smtClean="0"/>
              <a:t>and Scholarship </a:t>
            </a:r>
            <a:r>
              <a:rPr lang="en-US" sz="3200" dirty="0"/>
              <a:t>Prediction Using Structured CAP Cutoff Data</a:t>
            </a: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85069" y="330169"/>
            <a:ext cx="1494790" cy="572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875" y="1037369"/>
            <a:ext cx="4510405" cy="4954270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334010" indent="-321310">
              <a:lnSpc>
                <a:spcPct val="100000"/>
              </a:lnSpc>
              <a:spcBef>
                <a:spcPts val="1525"/>
              </a:spcBef>
              <a:buFont typeface="Wingdings"/>
              <a:buChar char=""/>
              <a:tabLst>
                <a:tab pos="334010" algn="l"/>
              </a:tabLst>
            </a:pPr>
            <a:r>
              <a:rPr sz="2400" spc="-10" dirty="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 marL="334010" indent="-321310">
              <a:lnSpc>
                <a:spcPct val="100000"/>
              </a:lnSpc>
              <a:spcBef>
                <a:spcPts val="1430"/>
              </a:spcBef>
              <a:buFont typeface="Wingdings"/>
              <a:buChar char=""/>
              <a:tabLst>
                <a:tab pos="334010" algn="l"/>
              </a:tabLst>
            </a:pPr>
            <a:r>
              <a:rPr sz="2400" dirty="0">
                <a:latin typeface="Times New Roman"/>
                <a:cs typeface="Times New Roman"/>
              </a:rPr>
              <a:t>Literature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Survey</a:t>
            </a:r>
            <a:endParaRPr sz="2400">
              <a:latin typeface="Times New Roman"/>
              <a:cs typeface="Times New Roman"/>
            </a:endParaRPr>
          </a:p>
          <a:p>
            <a:pPr marL="334010" indent="-321310">
              <a:lnSpc>
                <a:spcPct val="100000"/>
              </a:lnSpc>
              <a:spcBef>
                <a:spcPts val="1425"/>
              </a:spcBef>
              <a:buFont typeface="Wingdings"/>
              <a:buChar char=""/>
              <a:tabLst>
                <a:tab pos="334010" algn="l"/>
                <a:tab pos="2214245" algn="l"/>
              </a:tabLst>
            </a:pPr>
            <a:r>
              <a:rPr sz="2400" dirty="0">
                <a:latin typeface="Times New Roman"/>
                <a:cs typeface="Times New Roman"/>
              </a:rPr>
              <a:t>Limitations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existing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334010" indent="-321310">
              <a:lnSpc>
                <a:spcPct val="100000"/>
              </a:lnSpc>
              <a:spcBef>
                <a:spcPts val="1445"/>
              </a:spcBef>
              <a:buFont typeface="Wingdings"/>
              <a:buChar char=""/>
              <a:tabLst>
                <a:tab pos="334010" algn="l"/>
              </a:tabLst>
            </a:pP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Objectives</a:t>
            </a:r>
            <a:endParaRPr sz="2400">
              <a:latin typeface="Times New Roman"/>
              <a:cs typeface="Times New Roman"/>
            </a:endParaRPr>
          </a:p>
          <a:p>
            <a:pPr marL="334010" indent="-321310">
              <a:lnSpc>
                <a:spcPct val="100000"/>
              </a:lnSpc>
              <a:spcBef>
                <a:spcPts val="1425"/>
              </a:spcBef>
              <a:buFont typeface="Wingdings"/>
              <a:buChar char=""/>
              <a:tabLst>
                <a:tab pos="334010" algn="l"/>
              </a:tabLst>
            </a:pPr>
            <a:r>
              <a:rPr sz="2400" dirty="0">
                <a:latin typeface="Times New Roman"/>
                <a:cs typeface="Times New Roman"/>
              </a:rPr>
              <a:t>Proposed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marL="334010" indent="-321310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010" algn="l"/>
              </a:tabLst>
            </a:pPr>
            <a:r>
              <a:rPr sz="2400" dirty="0">
                <a:latin typeface="Times New Roman"/>
                <a:cs typeface="Times New Roman"/>
              </a:rPr>
              <a:t>Experimental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Setup</a:t>
            </a:r>
            <a:endParaRPr sz="2400">
              <a:latin typeface="Times New Roman"/>
              <a:cs typeface="Times New Roman"/>
            </a:endParaRPr>
          </a:p>
          <a:p>
            <a:pPr marL="334010" indent="-321310">
              <a:lnSpc>
                <a:spcPct val="100000"/>
              </a:lnSpc>
              <a:spcBef>
                <a:spcPts val="1430"/>
              </a:spcBef>
              <a:buFont typeface="Wingdings"/>
              <a:buChar char=""/>
              <a:tabLst>
                <a:tab pos="334010" algn="l"/>
              </a:tabLst>
            </a:pPr>
            <a:r>
              <a:rPr sz="2400" spc="-10" dirty="0">
                <a:latin typeface="Times New Roman"/>
                <a:cs typeface="Times New Roman"/>
              </a:rPr>
              <a:t>Implementation</a:t>
            </a:r>
            <a:endParaRPr sz="2400">
              <a:latin typeface="Times New Roman"/>
              <a:cs typeface="Times New Roman"/>
            </a:endParaRPr>
          </a:p>
          <a:p>
            <a:pPr marL="334010" indent="-321310">
              <a:lnSpc>
                <a:spcPct val="100000"/>
              </a:lnSpc>
              <a:spcBef>
                <a:spcPts val="1425"/>
              </a:spcBef>
              <a:buFont typeface="Wingdings"/>
              <a:buChar char=""/>
              <a:tabLst>
                <a:tab pos="334010" algn="l"/>
              </a:tabLst>
            </a:pPr>
            <a:r>
              <a:rPr sz="2400" dirty="0">
                <a:latin typeface="Times New Roman"/>
                <a:cs typeface="Times New Roman"/>
              </a:rPr>
              <a:t>Conclusion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Future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work</a:t>
            </a:r>
            <a:endParaRPr sz="2400">
              <a:latin typeface="Times New Roman"/>
              <a:cs typeface="Times New Roman"/>
            </a:endParaRPr>
          </a:p>
          <a:p>
            <a:pPr marL="334010" indent="-321310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010" algn="l"/>
              </a:tabLst>
            </a:pPr>
            <a:r>
              <a:rPr sz="2400" spc="-10" dirty="0">
                <a:latin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141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90145" y="1676400"/>
            <a:ext cx="7891855" cy="4909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admissions through MHT-CET CAP counselling involves multi-parameter decision-making  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Seat allocation depends on rank, category, gender, seat type, and quota distribution  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 cutoff datasets are large, unstructured, and difficult to interpret manually  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require extensive data comparison across multiple sources  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Scholarship information remains fragmented and disconnected from admission guidance  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structured and integrated decision-support system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141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188" y="1689532"/>
            <a:ext cx="8549005" cy="477139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Motivation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(Mapped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with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SDG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Quality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Education)</a:t>
            </a:r>
            <a:endParaRPr sz="2400">
              <a:latin typeface="Times New Roman"/>
              <a:cs typeface="Times New Roman"/>
            </a:endParaRPr>
          </a:p>
          <a:p>
            <a:pPr marL="593725" lvl="1" indent="-182245">
              <a:lnSpc>
                <a:spcPct val="100000"/>
              </a:lnSpc>
              <a:spcBef>
                <a:spcPts val="560"/>
              </a:spcBef>
              <a:buChar char="•"/>
              <a:tabLst>
                <a:tab pos="593725" algn="l"/>
              </a:tabLst>
            </a:pP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equal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educational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guidance</a:t>
            </a:r>
            <a:endParaRPr sz="2400">
              <a:latin typeface="Times New Roman"/>
              <a:cs typeface="Times New Roman"/>
            </a:endParaRPr>
          </a:p>
          <a:p>
            <a:pPr marL="593725" lvl="1" indent="-182245">
              <a:lnSpc>
                <a:spcPct val="100000"/>
              </a:lnSpc>
              <a:buChar char="•"/>
              <a:tabLst>
                <a:tab pos="593725" algn="l"/>
              </a:tabLst>
            </a:pPr>
            <a:r>
              <a:rPr sz="2400" dirty="0">
                <a:latin typeface="Times New Roman"/>
                <a:cs typeface="Times New Roman"/>
              </a:rPr>
              <a:t>Rural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economically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weaker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students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lack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support</a:t>
            </a:r>
            <a:endParaRPr sz="2400">
              <a:latin typeface="Times New Roman"/>
              <a:cs typeface="Times New Roman"/>
            </a:endParaRPr>
          </a:p>
          <a:p>
            <a:pPr marL="593725" lvl="1" indent="-182245">
              <a:lnSpc>
                <a:spcPts val="2875"/>
              </a:lnSpc>
              <a:buChar char="•"/>
              <a:tabLst>
                <a:tab pos="593725" algn="l"/>
              </a:tabLst>
            </a:pPr>
            <a:r>
              <a:rPr sz="2400" dirty="0">
                <a:latin typeface="Times New Roman"/>
                <a:cs typeface="Times New Roman"/>
              </a:rPr>
              <a:t>Scholarship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awareness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limited</a:t>
            </a:r>
            <a:endParaRPr sz="2400">
              <a:latin typeface="Times New Roman"/>
              <a:cs typeface="Times New Roman"/>
            </a:endParaRPr>
          </a:p>
          <a:p>
            <a:pPr marL="593725" lvl="1" indent="-182245">
              <a:lnSpc>
                <a:spcPts val="2875"/>
              </a:lnSpc>
              <a:buChar char="•"/>
              <a:tabLst>
                <a:tab pos="593725" algn="l"/>
              </a:tabLst>
            </a:pPr>
            <a:r>
              <a:rPr sz="2400" dirty="0">
                <a:latin typeface="Times New Roman"/>
                <a:cs typeface="Times New Roman"/>
              </a:rPr>
              <a:t>Promote</a:t>
            </a:r>
            <a:r>
              <a:rPr sz="2400" spc="-10" dirty="0">
                <a:latin typeface="Times New Roman"/>
                <a:cs typeface="Times New Roman"/>
              </a:rPr>
              <a:t> data-</a:t>
            </a:r>
            <a:r>
              <a:rPr sz="2400" dirty="0">
                <a:latin typeface="Times New Roman"/>
                <a:cs typeface="Times New Roman"/>
              </a:rPr>
              <a:t>driven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transparent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decision-making</a:t>
            </a: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60"/>
              </a:spcBef>
              <a:buFont typeface="Times New Roman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Times New Roman"/>
                <a:cs typeface="Times New Roman"/>
              </a:rPr>
              <a:t>Objectives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Project</a:t>
            </a:r>
            <a:endParaRPr sz="2400">
              <a:latin typeface="Times New Roman"/>
              <a:cs typeface="Times New Roman"/>
            </a:endParaRPr>
          </a:p>
          <a:p>
            <a:pPr marL="593725" lvl="1" indent="-182245">
              <a:lnSpc>
                <a:spcPts val="2875"/>
              </a:lnSpc>
              <a:spcBef>
                <a:spcPts val="580"/>
              </a:spcBef>
              <a:buChar char="•"/>
              <a:tabLst>
                <a:tab pos="593725" algn="l"/>
              </a:tabLst>
            </a:pPr>
            <a:r>
              <a:rPr sz="2400" dirty="0">
                <a:latin typeface="Times New Roman"/>
                <a:cs typeface="Times New Roman"/>
              </a:rPr>
              <a:t>Develop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web-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College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Predictor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historical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cutoff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593725" lvl="1" indent="-182245">
              <a:lnSpc>
                <a:spcPts val="2875"/>
              </a:lnSpc>
              <a:buChar char="•"/>
              <a:tabLst>
                <a:tab pos="593725" algn="l"/>
              </a:tabLst>
            </a:pPr>
            <a:r>
              <a:rPr sz="2400" dirty="0">
                <a:latin typeface="Times New Roman"/>
                <a:cs typeface="Times New Roman"/>
              </a:rPr>
              <a:t>Recommend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eligible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scholarships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profile</a:t>
            </a:r>
            <a:endParaRPr sz="2400">
              <a:latin typeface="Times New Roman"/>
              <a:cs typeface="Times New Roman"/>
            </a:endParaRPr>
          </a:p>
          <a:p>
            <a:pPr marL="593725" lvl="1" indent="-182245">
              <a:lnSpc>
                <a:spcPts val="2875"/>
              </a:lnSpc>
              <a:buChar char="•"/>
              <a:tabLst>
                <a:tab pos="593725" algn="l"/>
              </a:tabLst>
            </a:pPr>
            <a:r>
              <a:rPr sz="2400" dirty="0">
                <a:latin typeface="Times New Roman"/>
                <a:cs typeface="Times New Roman"/>
              </a:rPr>
              <a:t>Implement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rule-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eligibility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filtering</a:t>
            </a:r>
            <a:endParaRPr sz="2400">
              <a:latin typeface="Times New Roman"/>
              <a:cs typeface="Times New Roman"/>
            </a:endParaRPr>
          </a:p>
          <a:p>
            <a:pPr marL="593725" lvl="1" indent="-182245">
              <a:lnSpc>
                <a:spcPts val="2875"/>
              </a:lnSpc>
              <a:buChar char="•"/>
              <a:tabLst>
                <a:tab pos="593725" algn="l"/>
              </a:tabLst>
            </a:pP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user-</a:t>
            </a:r>
            <a:r>
              <a:rPr sz="2400" dirty="0">
                <a:latin typeface="Times New Roman"/>
                <a:cs typeface="Times New Roman"/>
              </a:rPr>
              <a:t>friendly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interface</a:t>
            </a:r>
            <a:endParaRPr sz="2400">
              <a:latin typeface="Times New Roman"/>
              <a:cs typeface="Times New Roman"/>
            </a:endParaRPr>
          </a:p>
          <a:p>
            <a:pPr marL="593725" lvl="1" indent="-182245">
              <a:lnSpc>
                <a:spcPct val="100000"/>
              </a:lnSpc>
              <a:buChar char="•"/>
              <a:tabLst>
                <a:tab pos="593725" algn="l"/>
              </a:tabLst>
            </a:pPr>
            <a:r>
              <a:rPr sz="2400" dirty="0">
                <a:latin typeface="Times New Roman"/>
                <a:cs typeface="Times New Roman"/>
              </a:rPr>
              <a:t>Reduce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dependency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paid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counselling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services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07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35"/>
              </a:spcBef>
            </a:pPr>
            <a:r>
              <a:rPr dirty="0"/>
              <a:t>Literature</a:t>
            </a:r>
            <a:r>
              <a:rPr spc="65" dirty="0"/>
              <a:t> </a:t>
            </a:r>
            <a:r>
              <a:rPr spc="-10" dirty="0"/>
              <a:t>Survey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032181"/>
              </p:ext>
            </p:extLst>
          </p:nvPr>
        </p:nvGraphicFramePr>
        <p:xfrm>
          <a:off x="228600" y="1600200"/>
          <a:ext cx="9501185" cy="5212080"/>
        </p:xfrm>
        <a:graphic>
          <a:graphicData uri="http://schemas.openxmlformats.org/drawingml/2006/table">
            <a:tbl>
              <a:tblPr firstRow="1"/>
              <a:tblGrid>
                <a:gridCol w="1981200"/>
                <a:gridCol w="1981200"/>
                <a:gridCol w="1512886"/>
                <a:gridCol w="1839914"/>
                <a:gridCol w="2185985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da-D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Yousafzai et al., 2020 [1]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(Decision Tree, RF)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prediction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suitable for CAP counselling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da-DK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et al., 2020 [2]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Regression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Academic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scholarship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 &amp; Martin, 2021 [3]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Algorithms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Admission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parameters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Patil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Sawant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2021 [4]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</a:t>
                      </a:r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Entrance 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College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financial aid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Uzoma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2024 [5]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Recommender</a:t>
                      </a:r>
                      <a:r>
                        <a:rPr lang="en-IN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recommendations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multi-parameter filtering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 Portals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Data Display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 PDFs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Cutoff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analysis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82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07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35"/>
              </a:spcBef>
            </a:pPr>
            <a:r>
              <a:rPr dirty="0"/>
              <a:t>Literature</a:t>
            </a:r>
            <a:r>
              <a:rPr spc="65" dirty="0"/>
              <a:t> </a:t>
            </a:r>
            <a:r>
              <a:rPr spc="-10" dirty="0"/>
              <a:t>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76400"/>
            <a:ext cx="8153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focus on academic performance prediction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models such as Decision Trees, Random Forest, and Regression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provide admission probability prediction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CAP portals display historical cutoff data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solutions assist decision-making but lack integrated guidance.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07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35"/>
              </a:spcBef>
            </a:pPr>
            <a:r>
              <a:rPr dirty="0"/>
              <a:t>Limitations</a:t>
            </a:r>
            <a:r>
              <a:rPr spc="65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existing</a:t>
            </a:r>
            <a:r>
              <a:rPr spc="7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145" y="1600200"/>
            <a:ext cx="8524875" cy="3668312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94945" indent="-182245" algn="just">
              <a:lnSpc>
                <a:spcPct val="100000"/>
              </a:lnSpc>
              <a:spcBef>
                <a:spcPts val="665"/>
              </a:spcBef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Most systems focus only on academic performance prediction </a:t>
            </a:r>
          </a:p>
          <a:p>
            <a:pPr marL="194945" indent="-182245" algn="just">
              <a:lnSpc>
                <a:spcPct val="100000"/>
              </a:lnSpc>
              <a:spcBef>
                <a:spcPts val="665"/>
              </a:spcBef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No direct use of real CAP counselling cutoff datasets </a:t>
            </a:r>
          </a:p>
          <a:p>
            <a:pPr marL="194945" indent="-182245" algn="just">
              <a:lnSpc>
                <a:spcPct val="100000"/>
              </a:lnSpc>
              <a:spcBef>
                <a:spcPts val="665"/>
              </a:spcBef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Scholarship recommendation not integrated with college prediction</a:t>
            </a:r>
          </a:p>
          <a:p>
            <a:pPr marL="194945" indent="-182245" algn="just">
              <a:lnSpc>
                <a:spcPct val="100000"/>
              </a:lnSpc>
              <a:spcBef>
                <a:spcPts val="665"/>
              </a:spcBef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Limited eligibility parameters considered </a:t>
            </a:r>
          </a:p>
          <a:p>
            <a:pPr marL="194945" indent="-182245" algn="just">
              <a:lnSpc>
                <a:spcPct val="100000"/>
              </a:lnSpc>
              <a:spcBef>
                <a:spcPts val="665"/>
              </a:spcBef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No centralized platform combining counselling + financial guidance</a:t>
            </a:r>
          </a:p>
          <a:p>
            <a:pPr marL="194945" indent="-182245" algn="just">
              <a:lnSpc>
                <a:spcPct val="100000"/>
              </a:lnSpc>
              <a:spcBef>
                <a:spcPts val="665"/>
              </a:spcBef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Static cutoff portals require manual interpretation </a:t>
            </a:r>
          </a:p>
          <a:p>
            <a:pPr marL="194945" indent="-182245" algn="just">
              <a:lnSpc>
                <a:spcPct val="100000"/>
              </a:lnSpc>
              <a:spcBef>
                <a:spcPts val="665"/>
              </a:spcBef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Lack of transparency in prediction logic </a:t>
            </a:r>
          </a:p>
          <a:p>
            <a:pPr marL="194945" indent="-182245" algn="just">
              <a:lnSpc>
                <a:spcPct val="100000"/>
              </a:lnSpc>
              <a:spcBef>
                <a:spcPts val="665"/>
              </a:spcBef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Minimal support for rural and economically weaker students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369" rIns="0" bIns="0" rtlCol="0">
            <a:spAutoFit/>
          </a:bodyPr>
          <a:lstStyle/>
          <a:p>
            <a:pPr marL="385445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spc="70" dirty="0"/>
              <a:t> </a:t>
            </a:r>
            <a:r>
              <a:rPr dirty="0"/>
              <a:t>statement</a:t>
            </a:r>
            <a:r>
              <a:rPr spc="7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3702" y="1524000"/>
            <a:ext cx="8925560" cy="51533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99800"/>
              </a:lnSpc>
              <a:spcBef>
                <a:spcPts val="105"/>
              </a:spcBef>
            </a:pPr>
            <a:r>
              <a:rPr lang="en-US" sz="2800" b="1" dirty="0" smtClean="0">
                <a:latin typeface="Times New Roman"/>
                <a:cs typeface="Times New Roman"/>
              </a:rPr>
              <a:t>Problem Statement:</a:t>
            </a:r>
          </a:p>
          <a:p>
            <a:pPr marL="12700" marR="5080" algn="just">
              <a:lnSpc>
                <a:spcPct val="99800"/>
              </a:lnSpc>
              <a:spcBef>
                <a:spcPts val="105"/>
              </a:spcBef>
            </a:pPr>
            <a:endParaRPr lang="en-US" sz="2800" b="1" dirty="0" smtClean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98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cs typeface="Times New Roman"/>
              </a:rPr>
              <a:t>Students face difficulty in selecting colleges during CAP counselling</a:t>
            </a:r>
          </a:p>
          <a:p>
            <a:pPr marL="355600" marR="5080" indent="-342900" algn="just">
              <a:lnSpc>
                <a:spcPct val="998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cs typeface="Times New Roman"/>
              </a:rPr>
              <a:t>Large and complex cutoff datasets are difficult to interpret</a:t>
            </a:r>
          </a:p>
          <a:p>
            <a:pPr marL="355600" marR="5080" indent="-342900" algn="just">
              <a:lnSpc>
                <a:spcPct val="998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cs typeface="Times New Roman"/>
              </a:rPr>
              <a:t>No centralized system for college and scholarship guidance  </a:t>
            </a:r>
          </a:p>
          <a:p>
            <a:pPr marL="355600" marR="5080" indent="-342900" algn="just">
              <a:lnSpc>
                <a:spcPct val="998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99800"/>
              </a:lnSpc>
              <a:spcBef>
                <a:spcPts val="105"/>
              </a:spcBef>
            </a:pPr>
            <a:r>
              <a:rPr lang="en-US" sz="2800" b="1" dirty="0" smtClean="0">
                <a:latin typeface="Times New Roman"/>
                <a:cs typeface="Times New Roman"/>
              </a:rPr>
              <a:t>Objectives:</a:t>
            </a:r>
          </a:p>
          <a:p>
            <a:pPr marL="12700" marR="5080" algn="just">
              <a:lnSpc>
                <a:spcPct val="99800"/>
              </a:lnSpc>
              <a:spcBef>
                <a:spcPts val="105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98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cs typeface="Times New Roman"/>
              </a:rPr>
              <a:t>Analyze historical CAP cutoff data in structured format.  </a:t>
            </a:r>
          </a:p>
          <a:p>
            <a:pPr marL="355600" marR="5080" indent="-342900" algn="just">
              <a:lnSpc>
                <a:spcPct val="998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cs typeface="Times New Roman"/>
              </a:rPr>
              <a:t>Predict eligible colleges based on student parameters.  </a:t>
            </a:r>
          </a:p>
          <a:p>
            <a:pPr marL="355600" marR="5080" indent="-342900" algn="just">
              <a:lnSpc>
                <a:spcPct val="998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cs typeface="Times New Roman"/>
              </a:rPr>
              <a:t>Identify applicable scholarships based on eligibility.  </a:t>
            </a:r>
          </a:p>
          <a:p>
            <a:pPr marL="355600" marR="5080" indent="-342900" algn="just">
              <a:lnSpc>
                <a:spcPct val="998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cs typeface="Times New Roman"/>
              </a:rPr>
              <a:t>Provide transparent and data-driven guidance.</a:t>
            </a:r>
          </a:p>
          <a:p>
            <a:pPr marL="355600" marR="5080" indent="-342900" algn="just">
              <a:lnSpc>
                <a:spcPct val="998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/>
                <a:cs typeface="Times New Roman"/>
              </a:rPr>
              <a:t>Reduce dependence on private counselling services.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832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35"/>
              </a:spcBef>
            </a:pPr>
            <a:r>
              <a:rPr dirty="0"/>
              <a:t>Proposed</a:t>
            </a:r>
            <a:r>
              <a:rPr spc="8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987" y="1470092"/>
            <a:ext cx="8545613" cy="4905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Module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 smtClean="0">
                <a:latin typeface="Times New Roman"/>
                <a:cs typeface="Times New Roman"/>
              </a:rPr>
              <a:t>Design</a:t>
            </a:r>
            <a:r>
              <a:rPr lang="en-US" sz="2800" dirty="0">
                <a:latin typeface="Times New Roman"/>
                <a:cs typeface="Times New Roman"/>
              </a:rPr>
              <a:t>:</a:t>
            </a:r>
            <a:endParaRPr lang="en-IN" sz="2400" dirty="0" smtClean="0">
              <a:latin typeface="Times New Roman"/>
              <a:cs typeface="Times New Roman"/>
            </a:endParaRPr>
          </a:p>
          <a:p>
            <a:pPr marL="355600" indent="-342900" algn="just">
              <a:lnSpc>
                <a:spcPts val="2875"/>
              </a:lnSpc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IN" sz="2400" dirty="0" smtClean="0">
                <a:latin typeface="Times New Roman"/>
                <a:cs typeface="Times New Roman"/>
              </a:rPr>
              <a:t>Input Module: Student rank, category, gender, seat type, income.  </a:t>
            </a:r>
          </a:p>
          <a:p>
            <a:pPr marL="355600" indent="-342900" algn="just">
              <a:lnSpc>
                <a:spcPts val="2875"/>
              </a:lnSpc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IN" sz="2400" dirty="0" smtClean="0">
                <a:latin typeface="Times New Roman"/>
                <a:cs typeface="Times New Roman"/>
              </a:rPr>
              <a:t>College Filtering Module: </a:t>
            </a:r>
            <a:r>
              <a:rPr lang="en-US" sz="2400" dirty="0" smtClean="0">
                <a:latin typeface="Times New Roman"/>
                <a:cs typeface="Times New Roman"/>
              </a:rPr>
              <a:t>Compares student rank against cutoff rank.</a:t>
            </a:r>
            <a:r>
              <a:rPr lang="en-IN" sz="2400" dirty="0" smtClean="0">
                <a:latin typeface="Times New Roman"/>
                <a:cs typeface="Times New Roman"/>
              </a:rPr>
              <a:t>  </a:t>
            </a:r>
          </a:p>
          <a:p>
            <a:pPr marL="355600" indent="-342900" algn="just">
              <a:lnSpc>
                <a:spcPts val="2875"/>
              </a:lnSpc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IN" sz="2400" dirty="0" smtClean="0">
                <a:latin typeface="Times New Roman"/>
                <a:cs typeface="Times New Roman"/>
              </a:rPr>
              <a:t>Scholarship Filtering Module: Validates income and category eligibility.  </a:t>
            </a:r>
          </a:p>
          <a:p>
            <a:pPr marL="355600" indent="-342900" algn="just">
              <a:lnSpc>
                <a:spcPts val="2875"/>
              </a:lnSpc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IN" sz="2400" dirty="0" smtClean="0">
                <a:latin typeface="Times New Roman"/>
                <a:cs typeface="Times New Roman"/>
              </a:rPr>
              <a:t>Output Module: Displays eligible colleges and scholarships.</a:t>
            </a:r>
          </a:p>
          <a:p>
            <a:pPr marL="355600" indent="-342900" algn="just">
              <a:lnSpc>
                <a:spcPts val="2875"/>
              </a:lnSpc>
              <a:buFont typeface="Arial" panose="020B0604020202020204" pitchFamily="34" charset="0"/>
              <a:buChar char="•"/>
              <a:tabLst>
                <a:tab pos="31750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12700" algn="just">
              <a:lnSpc>
                <a:spcPts val="2875"/>
              </a:lnSpc>
              <a:tabLst>
                <a:tab pos="317500" algn="l"/>
              </a:tabLst>
            </a:pPr>
            <a:r>
              <a:rPr lang="en-US" sz="2800" b="1" dirty="0" smtClean="0">
                <a:latin typeface="Times New Roman"/>
                <a:cs typeface="Times New Roman"/>
              </a:rPr>
              <a:t>Eligibility Logic:</a:t>
            </a:r>
          </a:p>
          <a:p>
            <a:pPr marL="355600" indent="-342900" algn="just">
              <a:lnSpc>
                <a:spcPts val="2875"/>
              </a:lnSpc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College eligibility: Student Rank ≤ Cutoff Rank  </a:t>
            </a:r>
          </a:p>
          <a:p>
            <a:pPr marL="355600" indent="-342900" algn="just">
              <a:lnSpc>
                <a:spcPts val="2875"/>
              </a:lnSpc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Scholarship eligibility: Student Income ≤ Income Limit</a:t>
            </a:r>
          </a:p>
          <a:p>
            <a:pPr marL="12700" algn="just">
              <a:lnSpc>
                <a:spcPts val="2875"/>
              </a:lnSpc>
              <a:tabLst>
                <a:tab pos="317500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 </a:t>
            </a:r>
          </a:p>
          <a:p>
            <a:pPr marL="355600" indent="-342900" algn="just">
              <a:lnSpc>
                <a:spcPts val="2875"/>
              </a:lnSpc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Rule-based deterministic system without probabilistic prediction</a:t>
            </a:r>
            <a:endParaRPr lang="en-IN" sz="2400" dirty="0" smtClean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5639561" y="114299"/>
            <a:ext cx="4418965" cy="7542530"/>
            <a:chOff x="5639561" y="114299"/>
            <a:chExt cx="4418965" cy="7542530"/>
          </a:xfrm>
        </p:grpSpPr>
        <p:sp>
          <p:nvSpPr>
            <p:cNvPr id="7" name="object 7"/>
            <p:cNvSpPr/>
            <p:nvPr/>
          </p:nvSpPr>
          <p:spPr>
            <a:xfrm>
              <a:off x="5639549" y="114299"/>
              <a:ext cx="4418965" cy="7542530"/>
            </a:xfrm>
            <a:custGeom>
              <a:avLst/>
              <a:gdLst/>
              <a:ahLst/>
              <a:cxnLst/>
              <a:rect l="l" t="t" r="r" b="b"/>
              <a:pathLst>
                <a:path w="4418965" h="7542530">
                  <a:moveTo>
                    <a:pt x="4418850" y="4593856"/>
                  </a:moveTo>
                  <a:lnTo>
                    <a:pt x="3086722" y="5482247"/>
                  </a:lnTo>
                  <a:lnTo>
                    <a:pt x="2113026" y="0"/>
                  </a:lnTo>
                  <a:lnTo>
                    <a:pt x="2103882" y="0"/>
                  </a:lnTo>
                  <a:lnTo>
                    <a:pt x="2103882" y="1524"/>
                  </a:lnTo>
                  <a:lnTo>
                    <a:pt x="3078315" y="5487848"/>
                  </a:lnTo>
                  <a:lnTo>
                    <a:pt x="2286" y="7539228"/>
                  </a:lnTo>
                  <a:lnTo>
                    <a:pt x="762" y="7540752"/>
                  </a:lnTo>
                  <a:lnTo>
                    <a:pt x="0" y="7542276"/>
                  </a:lnTo>
                  <a:lnTo>
                    <a:pt x="16002" y="7542276"/>
                  </a:lnTo>
                  <a:lnTo>
                    <a:pt x="3080080" y="5497804"/>
                  </a:lnTo>
                  <a:lnTo>
                    <a:pt x="3443211" y="7542289"/>
                  </a:lnTo>
                  <a:lnTo>
                    <a:pt x="3452622" y="7542289"/>
                  </a:lnTo>
                  <a:lnTo>
                    <a:pt x="3088500" y="5492191"/>
                  </a:lnTo>
                  <a:lnTo>
                    <a:pt x="4418850" y="4604524"/>
                  </a:lnTo>
                  <a:lnTo>
                    <a:pt x="4418850" y="4593856"/>
                  </a:lnTo>
                  <a:close/>
                </a:path>
              </a:pathLst>
            </a:custGeom>
            <a:solidFill>
              <a:srgbClr val="5ECAEF">
                <a:alpha val="69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82349" y="114299"/>
              <a:ext cx="2476500" cy="7542530"/>
            </a:xfrm>
            <a:custGeom>
              <a:avLst/>
              <a:gdLst/>
              <a:ahLst/>
              <a:cxnLst/>
              <a:rect l="l" t="t" r="r" b="b"/>
              <a:pathLst>
                <a:path w="2476500" h="7542530">
                  <a:moveTo>
                    <a:pt x="2476050" y="7542276"/>
                  </a:moveTo>
                  <a:lnTo>
                    <a:pt x="0" y="7542276"/>
                  </a:lnTo>
                  <a:lnTo>
                    <a:pt x="2224590" y="0"/>
                  </a:lnTo>
                  <a:lnTo>
                    <a:pt x="2476050" y="10233"/>
                  </a:lnTo>
                  <a:lnTo>
                    <a:pt x="2476050" y="7542276"/>
                  </a:lnTo>
                  <a:close/>
                </a:path>
              </a:pathLst>
            </a:custGeom>
            <a:solidFill>
              <a:srgbClr val="5ECAEF">
                <a:alpha val="3593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26401" y="114299"/>
              <a:ext cx="2132330" cy="7542530"/>
            </a:xfrm>
            <a:custGeom>
              <a:avLst/>
              <a:gdLst/>
              <a:ahLst/>
              <a:cxnLst/>
              <a:rect l="l" t="t" r="r" b="b"/>
              <a:pathLst>
                <a:path w="2132329" h="7542530">
                  <a:moveTo>
                    <a:pt x="2131998" y="7542276"/>
                  </a:moveTo>
                  <a:lnTo>
                    <a:pt x="1320963" y="7542276"/>
                  </a:lnTo>
                  <a:lnTo>
                    <a:pt x="0" y="0"/>
                  </a:lnTo>
                  <a:lnTo>
                    <a:pt x="2131998" y="0"/>
                  </a:lnTo>
                  <a:lnTo>
                    <a:pt x="2131998" y="7542276"/>
                  </a:lnTo>
                  <a:close/>
                </a:path>
              </a:pathLst>
            </a:custGeom>
            <a:solidFill>
              <a:srgbClr val="5ECAEF">
                <a:alpha val="19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04308" y="4429006"/>
              <a:ext cx="2754630" cy="3227705"/>
            </a:xfrm>
            <a:custGeom>
              <a:avLst/>
              <a:gdLst/>
              <a:ahLst/>
              <a:cxnLst/>
              <a:rect l="l" t="t" r="r" b="b"/>
              <a:pathLst>
                <a:path w="2754629" h="3227704">
                  <a:moveTo>
                    <a:pt x="2754092" y="3227570"/>
                  </a:moveTo>
                  <a:lnTo>
                    <a:pt x="0" y="3227570"/>
                  </a:lnTo>
                  <a:lnTo>
                    <a:pt x="2754092" y="0"/>
                  </a:lnTo>
                  <a:lnTo>
                    <a:pt x="2754092" y="3227570"/>
                  </a:lnTo>
                  <a:close/>
                </a:path>
              </a:pathLst>
            </a:custGeom>
            <a:solidFill>
              <a:srgbClr val="16AFE4">
                <a:alpha val="6562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13912" y="114299"/>
              <a:ext cx="2345055" cy="7542530"/>
            </a:xfrm>
            <a:custGeom>
              <a:avLst/>
              <a:gdLst/>
              <a:ahLst/>
              <a:cxnLst/>
              <a:rect l="l" t="t" r="r" b="b"/>
              <a:pathLst>
                <a:path w="2345054" h="7542530">
                  <a:moveTo>
                    <a:pt x="2092255" y="7542276"/>
                  </a:moveTo>
                  <a:lnTo>
                    <a:pt x="2039276" y="7542276"/>
                  </a:lnTo>
                  <a:lnTo>
                    <a:pt x="0" y="0"/>
                  </a:lnTo>
                  <a:lnTo>
                    <a:pt x="2344488" y="0"/>
                  </a:lnTo>
                  <a:lnTo>
                    <a:pt x="2344488" y="7534965"/>
                  </a:lnTo>
                  <a:lnTo>
                    <a:pt x="2092255" y="7542276"/>
                  </a:lnTo>
                  <a:close/>
                </a:path>
              </a:pathLst>
            </a:custGeom>
            <a:solidFill>
              <a:srgbClr val="16AFE4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25862" y="114299"/>
              <a:ext cx="932815" cy="7542530"/>
            </a:xfrm>
            <a:custGeom>
              <a:avLst/>
              <a:gdLst/>
              <a:ahLst/>
              <a:cxnLst/>
              <a:rect l="l" t="t" r="r" b="b"/>
              <a:pathLst>
                <a:path w="932815" h="7542530">
                  <a:moveTo>
                    <a:pt x="932537" y="7542276"/>
                  </a:moveTo>
                  <a:lnTo>
                    <a:pt x="0" y="7542276"/>
                  </a:lnTo>
                  <a:lnTo>
                    <a:pt x="744182" y="0"/>
                  </a:lnTo>
                  <a:lnTo>
                    <a:pt x="932537" y="0"/>
                  </a:lnTo>
                  <a:lnTo>
                    <a:pt x="932537" y="7542276"/>
                  </a:lnTo>
                  <a:close/>
                </a:path>
              </a:pathLst>
            </a:custGeom>
            <a:solidFill>
              <a:srgbClr val="2D83C3">
                <a:alpha val="69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05981" y="114299"/>
              <a:ext cx="1152525" cy="7542530"/>
            </a:xfrm>
            <a:custGeom>
              <a:avLst/>
              <a:gdLst/>
              <a:ahLst/>
              <a:cxnLst/>
              <a:rect l="l" t="t" r="r" b="b"/>
              <a:pathLst>
                <a:path w="1152525" h="7542530">
                  <a:moveTo>
                    <a:pt x="1152418" y="7542276"/>
                  </a:moveTo>
                  <a:lnTo>
                    <a:pt x="1030290" y="7542276"/>
                  </a:lnTo>
                  <a:lnTo>
                    <a:pt x="0" y="0"/>
                  </a:lnTo>
                  <a:lnTo>
                    <a:pt x="1152418" y="0"/>
                  </a:lnTo>
                  <a:lnTo>
                    <a:pt x="1152418" y="7542276"/>
                  </a:lnTo>
                  <a:close/>
                </a:path>
              </a:pathLst>
            </a:custGeom>
            <a:solidFill>
              <a:srgbClr val="236291">
                <a:alpha val="816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76621" y="5524561"/>
              <a:ext cx="1182370" cy="2132330"/>
            </a:xfrm>
            <a:custGeom>
              <a:avLst/>
              <a:gdLst/>
              <a:ahLst/>
              <a:cxnLst/>
              <a:rect l="l" t="t" r="r" b="b"/>
              <a:pathLst>
                <a:path w="1182370" h="2132329">
                  <a:moveTo>
                    <a:pt x="300087" y="2132014"/>
                  </a:moveTo>
                  <a:lnTo>
                    <a:pt x="0" y="2132014"/>
                  </a:lnTo>
                  <a:lnTo>
                    <a:pt x="1181779" y="0"/>
                  </a:lnTo>
                  <a:lnTo>
                    <a:pt x="1181779" y="2127550"/>
                  </a:lnTo>
                  <a:lnTo>
                    <a:pt x="300087" y="2132014"/>
                  </a:lnTo>
                  <a:close/>
                </a:path>
              </a:pathLst>
            </a:custGeom>
            <a:solidFill>
              <a:srgbClr val="16AFE4">
                <a:alpha val="6562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832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35"/>
              </a:spcBef>
            </a:pPr>
            <a:r>
              <a:rPr dirty="0"/>
              <a:t>Proposed</a:t>
            </a:r>
            <a:r>
              <a:rPr spc="80" dirty="0"/>
              <a:t> </a:t>
            </a:r>
            <a:r>
              <a:rPr spc="-10" dirty="0"/>
              <a:t>Methodology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45" y="1400210"/>
            <a:ext cx="8119596" cy="55822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5639561" y="114299"/>
            <a:ext cx="4418965" cy="7542530"/>
            <a:chOff x="5639561" y="114299"/>
            <a:chExt cx="4418965" cy="7542530"/>
          </a:xfrm>
        </p:grpSpPr>
        <p:sp>
          <p:nvSpPr>
            <p:cNvPr id="7" name="object 7"/>
            <p:cNvSpPr/>
            <p:nvPr/>
          </p:nvSpPr>
          <p:spPr>
            <a:xfrm>
              <a:off x="5639549" y="114299"/>
              <a:ext cx="4418965" cy="7542530"/>
            </a:xfrm>
            <a:custGeom>
              <a:avLst/>
              <a:gdLst/>
              <a:ahLst/>
              <a:cxnLst/>
              <a:rect l="l" t="t" r="r" b="b"/>
              <a:pathLst>
                <a:path w="4418965" h="7542530">
                  <a:moveTo>
                    <a:pt x="4418850" y="4593856"/>
                  </a:moveTo>
                  <a:lnTo>
                    <a:pt x="3086722" y="5482247"/>
                  </a:lnTo>
                  <a:lnTo>
                    <a:pt x="2113026" y="0"/>
                  </a:lnTo>
                  <a:lnTo>
                    <a:pt x="2103882" y="0"/>
                  </a:lnTo>
                  <a:lnTo>
                    <a:pt x="2103882" y="1524"/>
                  </a:lnTo>
                  <a:lnTo>
                    <a:pt x="3078315" y="5487848"/>
                  </a:lnTo>
                  <a:lnTo>
                    <a:pt x="2286" y="7539228"/>
                  </a:lnTo>
                  <a:lnTo>
                    <a:pt x="762" y="7540752"/>
                  </a:lnTo>
                  <a:lnTo>
                    <a:pt x="0" y="7542276"/>
                  </a:lnTo>
                  <a:lnTo>
                    <a:pt x="16002" y="7542276"/>
                  </a:lnTo>
                  <a:lnTo>
                    <a:pt x="3080080" y="5497804"/>
                  </a:lnTo>
                  <a:lnTo>
                    <a:pt x="3443211" y="7542289"/>
                  </a:lnTo>
                  <a:lnTo>
                    <a:pt x="3452622" y="7542289"/>
                  </a:lnTo>
                  <a:lnTo>
                    <a:pt x="3088500" y="5492191"/>
                  </a:lnTo>
                  <a:lnTo>
                    <a:pt x="4418850" y="4604524"/>
                  </a:lnTo>
                  <a:lnTo>
                    <a:pt x="4418850" y="4593856"/>
                  </a:lnTo>
                  <a:close/>
                </a:path>
              </a:pathLst>
            </a:custGeom>
            <a:solidFill>
              <a:srgbClr val="5ECAEF">
                <a:alpha val="69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82349" y="114299"/>
              <a:ext cx="2476500" cy="7542530"/>
            </a:xfrm>
            <a:custGeom>
              <a:avLst/>
              <a:gdLst/>
              <a:ahLst/>
              <a:cxnLst/>
              <a:rect l="l" t="t" r="r" b="b"/>
              <a:pathLst>
                <a:path w="2476500" h="7542530">
                  <a:moveTo>
                    <a:pt x="2476050" y="7542276"/>
                  </a:moveTo>
                  <a:lnTo>
                    <a:pt x="0" y="7542276"/>
                  </a:lnTo>
                  <a:lnTo>
                    <a:pt x="2224590" y="0"/>
                  </a:lnTo>
                  <a:lnTo>
                    <a:pt x="2476050" y="10233"/>
                  </a:lnTo>
                  <a:lnTo>
                    <a:pt x="2476050" y="7542276"/>
                  </a:lnTo>
                  <a:close/>
                </a:path>
              </a:pathLst>
            </a:custGeom>
            <a:solidFill>
              <a:srgbClr val="5ECAEF">
                <a:alpha val="3593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26401" y="114299"/>
              <a:ext cx="2132330" cy="7542530"/>
            </a:xfrm>
            <a:custGeom>
              <a:avLst/>
              <a:gdLst/>
              <a:ahLst/>
              <a:cxnLst/>
              <a:rect l="l" t="t" r="r" b="b"/>
              <a:pathLst>
                <a:path w="2132329" h="7542530">
                  <a:moveTo>
                    <a:pt x="2131998" y="7542276"/>
                  </a:moveTo>
                  <a:lnTo>
                    <a:pt x="1320963" y="7542276"/>
                  </a:lnTo>
                  <a:lnTo>
                    <a:pt x="0" y="0"/>
                  </a:lnTo>
                  <a:lnTo>
                    <a:pt x="2131998" y="0"/>
                  </a:lnTo>
                  <a:lnTo>
                    <a:pt x="2131998" y="7542276"/>
                  </a:lnTo>
                  <a:close/>
                </a:path>
              </a:pathLst>
            </a:custGeom>
            <a:solidFill>
              <a:srgbClr val="5ECAEF">
                <a:alpha val="19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04308" y="4429006"/>
              <a:ext cx="2754630" cy="3227705"/>
            </a:xfrm>
            <a:custGeom>
              <a:avLst/>
              <a:gdLst/>
              <a:ahLst/>
              <a:cxnLst/>
              <a:rect l="l" t="t" r="r" b="b"/>
              <a:pathLst>
                <a:path w="2754629" h="3227704">
                  <a:moveTo>
                    <a:pt x="2754092" y="3227570"/>
                  </a:moveTo>
                  <a:lnTo>
                    <a:pt x="0" y="3227570"/>
                  </a:lnTo>
                  <a:lnTo>
                    <a:pt x="2754092" y="0"/>
                  </a:lnTo>
                  <a:lnTo>
                    <a:pt x="2754092" y="3227570"/>
                  </a:lnTo>
                  <a:close/>
                </a:path>
              </a:pathLst>
            </a:custGeom>
            <a:solidFill>
              <a:srgbClr val="16AFE4">
                <a:alpha val="6562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13912" y="114299"/>
              <a:ext cx="2345055" cy="7542530"/>
            </a:xfrm>
            <a:custGeom>
              <a:avLst/>
              <a:gdLst/>
              <a:ahLst/>
              <a:cxnLst/>
              <a:rect l="l" t="t" r="r" b="b"/>
              <a:pathLst>
                <a:path w="2345054" h="7542530">
                  <a:moveTo>
                    <a:pt x="2092255" y="7542276"/>
                  </a:moveTo>
                  <a:lnTo>
                    <a:pt x="2039276" y="7542276"/>
                  </a:lnTo>
                  <a:lnTo>
                    <a:pt x="0" y="0"/>
                  </a:lnTo>
                  <a:lnTo>
                    <a:pt x="2344488" y="0"/>
                  </a:lnTo>
                  <a:lnTo>
                    <a:pt x="2344488" y="7534965"/>
                  </a:lnTo>
                  <a:lnTo>
                    <a:pt x="2092255" y="7542276"/>
                  </a:lnTo>
                  <a:close/>
                </a:path>
              </a:pathLst>
            </a:custGeom>
            <a:solidFill>
              <a:srgbClr val="16AFE4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25862" y="114299"/>
              <a:ext cx="932815" cy="7542530"/>
            </a:xfrm>
            <a:custGeom>
              <a:avLst/>
              <a:gdLst/>
              <a:ahLst/>
              <a:cxnLst/>
              <a:rect l="l" t="t" r="r" b="b"/>
              <a:pathLst>
                <a:path w="932815" h="7542530">
                  <a:moveTo>
                    <a:pt x="932537" y="7542276"/>
                  </a:moveTo>
                  <a:lnTo>
                    <a:pt x="0" y="7542276"/>
                  </a:lnTo>
                  <a:lnTo>
                    <a:pt x="744182" y="0"/>
                  </a:lnTo>
                  <a:lnTo>
                    <a:pt x="932537" y="0"/>
                  </a:lnTo>
                  <a:lnTo>
                    <a:pt x="932537" y="7542276"/>
                  </a:lnTo>
                  <a:close/>
                </a:path>
              </a:pathLst>
            </a:custGeom>
            <a:solidFill>
              <a:srgbClr val="2D83C3">
                <a:alpha val="69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05981" y="114299"/>
              <a:ext cx="1152525" cy="7542530"/>
            </a:xfrm>
            <a:custGeom>
              <a:avLst/>
              <a:gdLst/>
              <a:ahLst/>
              <a:cxnLst/>
              <a:rect l="l" t="t" r="r" b="b"/>
              <a:pathLst>
                <a:path w="1152525" h="7542530">
                  <a:moveTo>
                    <a:pt x="1152418" y="7542276"/>
                  </a:moveTo>
                  <a:lnTo>
                    <a:pt x="1030290" y="7542276"/>
                  </a:lnTo>
                  <a:lnTo>
                    <a:pt x="0" y="0"/>
                  </a:lnTo>
                  <a:lnTo>
                    <a:pt x="1152418" y="0"/>
                  </a:lnTo>
                  <a:lnTo>
                    <a:pt x="1152418" y="7542276"/>
                  </a:lnTo>
                  <a:close/>
                </a:path>
              </a:pathLst>
            </a:custGeom>
            <a:solidFill>
              <a:srgbClr val="236291">
                <a:alpha val="816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76621" y="5524561"/>
              <a:ext cx="1182370" cy="2132330"/>
            </a:xfrm>
            <a:custGeom>
              <a:avLst/>
              <a:gdLst/>
              <a:ahLst/>
              <a:cxnLst/>
              <a:rect l="l" t="t" r="r" b="b"/>
              <a:pathLst>
                <a:path w="1182370" h="2132329">
                  <a:moveTo>
                    <a:pt x="300087" y="2132014"/>
                  </a:moveTo>
                  <a:lnTo>
                    <a:pt x="0" y="2132014"/>
                  </a:lnTo>
                  <a:lnTo>
                    <a:pt x="1181779" y="0"/>
                  </a:lnTo>
                  <a:lnTo>
                    <a:pt x="1181779" y="2127550"/>
                  </a:lnTo>
                  <a:lnTo>
                    <a:pt x="300087" y="2132014"/>
                  </a:lnTo>
                  <a:close/>
                </a:path>
              </a:pathLst>
            </a:custGeom>
            <a:solidFill>
              <a:srgbClr val="16AFE4">
                <a:alpha val="6562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463688" y="457200"/>
            <a:ext cx="7097366" cy="843994"/>
          </a:xfrm>
          <a:prstGeom prst="rect">
            <a:avLst/>
          </a:prstGeom>
        </p:spPr>
        <p:txBody>
          <a:bodyPr vert="horz" wrap="square" lIns="0" tIns="213832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35"/>
              </a:spcBef>
            </a:pPr>
            <a:r>
              <a:rPr dirty="0"/>
              <a:t>Proposed</a:t>
            </a:r>
            <a:r>
              <a:rPr spc="8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AutoShape 2" descr="blob:https://web.whatsapp.com/805fadc8-ca17-403a-a9ec-862b543a6fa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5" t="49020" r="2941" b="4902"/>
          <a:stretch/>
        </p:blipFill>
        <p:spPr>
          <a:xfrm>
            <a:off x="785986" y="1447800"/>
            <a:ext cx="7615525" cy="561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1196" y="531307"/>
            <a:ext cx="3915410" cy="572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Experimental</a:t>
            </a:r>
            <a:r>
              <a:rPr spc="160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5204" y="1326937"/>
            <a:ext cx="4445000" cy="5995231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90"/>
              </a:spcBef>
              <a:buFont typeface="Wingdings" panose="05000000000000000000" pitchFamily="2" charset="2"/>
              <a:buChar char="Ø"/>
              <a:tabLst>
                <a:tab pos="390525" algn="l"/>
              </a:tabLst>
            </a:pPr>
            <a:r>
              <a:rPr sz="24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Software</a:t>
            </a:r>
            <a:r>
              <a:rPr sz="2400" b="1" spc="-114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Environment</a:t>
            </a: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090"/>
              </a:spcBef>
              <a:buChar char="•"/>
              <a:tabLst>
                <a:tab pos="194945" algn="l"/>
              </a:tabLst>
            </a:pP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Frontend:</a:t>
            </a:r>
            <a:r>
              <a:rPr sz="2400" spc="-8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HTML,</a:t>
            </a:r>
            <a:r>
              <a:rPr sz="2400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CSS,</a:t>
            </a:r>
            <a:r>
              <a:rPr sz="2400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Times New Roman"/>
                <a:cs typeface="Times New Roman"/>
              </a:rPr>
              <a:t>JavaScript</a:t>
            </a: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 marR="1317625" indent="182245">
              <a:lnSpc>
                <a:spcPts val="2870"/>
              </a:lnSpc>
              <a:spcBef>
                <a:spcPts val="105"/>
              </a:spcBef>
              <a:buChar char="•"/>
              <a:tabLst>
                <a:tab pos="194945" algn="l"/>
              </a:tabLst>
            </a:pP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Backend:</a:t>
            </a:r>
            <a:r>
              <a:rPr sz="2400" spc="-6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Python</a:t>
            </a:r>
            <a:r>
              <a:rPr sz="2400" spc="-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Times New Roman"/>
                <a:cs typeface="Times New Roman"/>
              </a:rPr>
              <a:t>(Flask Framework)</a:t>
            </a: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94945" indent="-182245">
              <a:lnSpc>
                <a:spcPts val="2780"/>
              </a:lnSpc>
              <a:buChar char="•"/>
              <a:tabLst>
                <a:tab pos="194945" algn="l"/>
              </a:tabLst>
            </a:pP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Data</a:t>
            </a:r>
            <a:r>
              <a:rPr sz="2400" spc="-4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Processing:</a:t>
            </a:r>
            <a:r>
              <a:rPr sz="2400" spc="-8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Times New Roman"/>
                <a:cs typeface="Times New Roman"/>
              </a:rPr>
              <a:t>Pandas</a:t>
            </a: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94945" indent="-182245">
              <a:lnSpc>
                <a:spcPts val="2875"/>
              </a:lnSpc>
              <a:buChar char="•"/>
              <a:tabLst>
                <a:tab pos="194945" algn="l"/>
              </a:tabLst>
            </a:pP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Database:</a:t>
            </a:r>
            <a:r>
              <a:rPr sz="2400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J</a:t>
            </a:r>
            <a:r>
              <a:rPr lang="en-US"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SON</a:t>
            </a:r>
            <a:r>
              <a:rPr sz="2400" spc="-5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spc="-20" dirty="0" smtClean="0">
                <a:solidFill>
                  <a:schemeClr val="tx1"/>
                </a:solidFill>
                <a:latin typeface="Times New Roman"/>
                <a:cs typeface="Times New Roman"/>
              </a:rPr>
              <a:t>files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  <a:tabLst>
                <a:tab pos="194945" algn="l"/>
              </a:tabLst>
            </a:pP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90525" marR="858519" indent="-378460">
              <a:lnSpc>
                <a:spcPts val="2870"/>
              </a:lnSpc>
              <a:buFont typeface="Wingdings" panose="05000000000000000000" pitchFamily="2" charset="2"/>
              <a:buChar char="Ø"/>
              <a:tabLst>
                <a:tab pos="390525" algn="l"/>
              </a:tabLst>
            </a:pPr>
            <a:r>
              <a:rPr sz="24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Performance</a:t>
            </a:r>
            <a:r>
              <a:rPr sz="2400" b="1" spc="-10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Evaluation</a:t>
            </a:r>
            <a:r>
              <a:rPr lang="en-US" sz="24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Parameters</a:t>
            </a: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000"/>
              </a:spcBef>
              <a:buChar char="•"/>
              <a:tabLst>
                <a:tab pos="194945" algn="l"/>
              </a:tabLst>
            </a:pPr>
            <a:r>
              <a:rPr lang="en-IN"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Eligibility validation consistency</a:t>
            </a:r>
          </a:p>
          <a:p>
            <a:pPr marL="194945" indent="-182245">
              <a:lnSpc>
                <a:spcPct val="100000"/>
              </a:lnSpc>
              <a:spcBef>
                <a:spcPts val="1000"/>
              </a:spcBef>
              <a:buChar char="•"/>
              <a:tabLst>
                <a:tab pos="194945" algn="l"/>
              </a:tabLst>
            </a:pPr>
            <a:r>
              <a:rPr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Filtering</a:t>
            </a:r>
            <a:r>
              <a:rPr sz="2400" spc="-15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Time</a:t>
            </a:r>
            <a:r>
              <a:rPr sz="2400" spc="-9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Efficiency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000"/>
              </a:spcBef>
              <a:buChar char="•"/>
              <a:tabLst>
                <a:tab pos="194945" algn="l"/>
              </a:tabLst>
            </a:pPr>
            <a:r>
              <a:rPr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Correct</a:t>
            </a:r>
            <a:r>
              <a:rPr sz="2400" spc="-6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Match</a:t>
            </a:r>
            <a:r>
              <a:rPr sz="2400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Rate</a:t>
            </a:r>
            <a:r>
              <a:rPr sz="2400" spc="-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(Rank</a:t>
            </a:r>
            <a:r>
              <a:rPr sz="2400" spc="-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chemeClr val="tx1"/>
                </a:solidFill>
                <a:latin typeface="Times New Roman"/>
                <a:cs typeface="Times New Roman"/>
              </a:rPr>
              <a:t>vs 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Cutoff</a:t>
            </a:r>
            <a:r>
              <a:rPr sz="2400" spc="-1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spc="-10" dirty="0" smtClean="0">
                <a:solidFill>
                  <a:schemeClr val="tx1"/>
                </a:solidFill>
                <a:latin typeface="Times New Roman"/>
                <a:cs typeface="Times New Roman"/>
              </a:rPr>
              <a:t>Validation)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spcBef>
                <a:spcPts val="1000"/>
              </a:spcBef>
              <a:buChar char="•"/>
              <a:tabLst>
                <a:tab pos="194945" algn="l"/>
              </a:tabLst>
            </a:pPr>
            <a:r>
              <a:rPr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User</a:t>
            </a:r>
            <a:r>
              <a:rPr sz="2400" spc="-4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/>
                <a:cs typeface="Times New Roman"/>
              </a:rPr>
              <a:t>Response</a:t>
            </a:r>
            <a:r>
              <a:rPr sz="2400" spc="-1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chemeClr val="tx1"/>
                </a:solidFill>
                <a:latin typeface="Times New Roman"/>
                <a:cs typeface="Times New Roman"/>
              </a:rPr>
              <a:t>Time</a:t>
            </a: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9200" y="1350128"/>
            <a:ext cx="4724956" cy="5433539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90"/>
              </a:spcBef>
              <a:buFont typeface="Wingdings" panose="05000000000000000000" pitchFamily="2" charset="2"/>
              <a:buChar char="Ø"/>
              <a:tabLst>
                <a:tab pos="390525" algn="l"/>
              </a:tabLst>
            </a:pPr>
            <a:r>
              <a:rPr sz="24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Dataset</a:t>
            </a:r>
            <a:r>
              <a:rPr sz="2400" b="1" spc="-60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Details</a:t>
            </a: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55600" marR="572770" indent="-342900">
              <a:lnSpc>
                <a:spcPts val="287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lang="en-US"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MHT-CET CAP cutoff datasets (2024–2025, Rounds 1–4)</a:t>
            </a:r>
          </a:p>
          <a:p>
            <a:pPr marL="355600" marR="572770" indent="-342900">
              <a:lnSpc>
                <a:spcPts val="287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lang="en-US"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28,825 cutoff records across 366 institutes and 91 programs</a:t>
            </a:r>
          </a:p>
          <a:p>
            <a:pPr marL="355600" marR="572770" indent="-342900">
              <a:lnSpc>
                <a:spcPts val="287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lang="en-US"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Attributes: college, branch, category, seat type, cutoff rank.</a:t>
            </a:r>
          </a:p>
          <a:p>
            <a:pPr marL="355600" marR="572770" indent="-342900">
              <a:lnSpc>
                <a:spcPts val="287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lang="en-US"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Scholarship dataset with income and category criteria.</a:t>
            </a:r>
          </a:p>
          <a:p>
            <a:pPr marL="355600" marR="572770" indent="-342900">
              <a:lnSpc>
                <a:spcPts val="287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lang="en-US" sz="2400" dirty="0" smtClean="0">
                <a:solidFill>
                  <a:schemeClr val="tx1"/>
                </a:solidFill>
                <a:latin typeface="Times New Roman"/>
                <a:cs typeface="Times New Roman"/>
              </a:rPr>
              <a:t>Data stored in structured JSON format</a:t>
            </a:r>
          </a:p>
          <a:p>
            <a:pPr marL="355600" marR="572770" indent="-342900">
              <a:lnSpc>
                <a:spcPts val="287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194945" algn="l"/>
              </a:tabLst>
            </a:pPr>
            <a:endParaRPr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53643" y="1094654"/>
            <a:ext cx="5107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Figure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PDF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CSV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Extraction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Module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52068"/>
            <a:ext cx="4419599" cy="59776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775259"/>
            <a:ext cx="4399722" cy="56019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4890" y="1354282"/>
            <a:ext cx="7885710" cy="5719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Fig. 2. Exam Rank College Predictor &amp; Scholarship Finder Interface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Displays the system interface for user interaction.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AutoShape 2" descr="blob:https://web.whatsapp.com/2cb3dbf8-47cc-4da8-bb57-9d2f92551378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blob:https://web.whatsapp.com/2cb3dbf8-47cc-4da8-bb57-9d2f92551378"/>
          <p:cNvSpPr>
            <a:spLocks noChangeAspect="1" noChangeArrowheads="1"/>
          </p:cNvSpPr>
          <p:nvPr/>
        </p:nvSpPr>
        <p:spPr bwMode="auto">
          <a:xfrm>
            <a:off x="307974" y="7937"/>
            <a:ext cx="7464425" cy="746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0" y="2819400"/>
            <a:ext cx="8647710" cy="343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63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084" y="1066800"/>
            <a:ext cx="7885710" cy="64838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Fig. 3. Exam Rank College Predictor Interface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Displays the user input form for selecting counselling parameters such as exam type, category, gender, and rank.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8" r="18471"/>
          <a:stretch/>
        </p:blipFill>
        <p:spPr>
          <a:xfrm>
            <a:off x="2195039" y="1447800"/>
            <a:ext cx="4495800" cy="519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950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022" y="851592"/>
            <a:ext cx="8405377" cy="64838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Fig. 4. College Predictor Results Interface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Shows the list of eligible colleges and programs generated based on user input and cutoff filtering logic.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9" t="5735" r="5613"/>
          <a:stretch/>
        </p:blipFill>
        <p:spPr>
          <a:xfrm>
            <a:off x="1727537" y="1371600"/>
            <a:ext cx="5970345" cy="503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97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144" y="851592"/>
            <a:ext cx="8730055" cy="68659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Fig. 5. Scholarship Finder Interface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Illustrates the filtering interface where users can apply multiple criteria to search for relevant scholarships.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2"/>
          <a:stretch/>
        </p:blipFill>
        <p:spPr>
          <a:xfrm>
            <a:off x="1654771" y="1295400"/>
            <a:ext cx="6400800" cy="532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71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145" y="828401"/>
            <a:ext cx="8495310" cy="64838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Fig. 6. Detailed Scholarship Information View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/>
                <a:cs typeface="Times New Roman"/>
              </a:rPr>
              <a:t>Displays comprehensive details of a selected scholarship, including eligibility, benefits, required documents, and deadlines.</a:t>
            </a:r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00" y="1295400"/>
            <a:ext cx="6096000" cy="519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93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Conclusion</a:t>
            </a:r>
            <a:r>
              <a:rPr spc="105" dirty="0"/>
              <a:t> </a:t>
            </a:r>
            <a:r>
              <a:rPr dirty="0"/>
              <a:t>and</a:t>
            </a:r>
            <a:r>
              <a:rPr spc="65" dirty="0"/>
              <a:t> </a:t>
            </a:r>
            <a:r>
              <a:rPr dirty="0"/>
              <a:t>Future</a:t>
            </a:r>
            <a:r>
              <a:rPr spc="75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080" y="2052284"/>
            <a:ext cx="8983980" cy="447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Conclusion</a:t>
            </a:r>
            <a:endParaRPr sz="2400" dirty="0">
              <a:latin typeface="Times New Roman"/>
              <a:cs typeface="Times New Roman"/>
            </a:endParaRPr>
          </a:p>
          <a:p>
            <a:pPr marL="179705" indent="-167005">
              <a:lnSpc>
                <a:spcPts val="2875"/>
              </a:lnSpc>
              <a:buChar char="•"/>
              <a:tabLst>
                <a:tab pos="179705" algn="l"/>
              </a:tabLst>
            </a:pPr>
            <a:r>
              <a:rPr sz="2400" dirty="0">
                <a:latin typeface="Times New Roman"/>
                <a:cs typeface="Times New Roman"/>
              </a:rPr>
              <a:t>Automated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PDF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CSV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Normalized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JSON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pipeline</a:t>
            </a:r>
            <a:endParaRPr sz="2400" dirty="0">
              <a:latin typeface="Times New Roman"/>
              <a:cs typeface="Times New Roman"/>
            </a:endParaRPr>
          </a:p>
          <a:p>
            <a:pPr marL="194945" indent="-182245">
              <a:lnSpc>
                <a:spcPct val="100000"/>
              </a:lnSpc>
              <a:buChar char="•"/>
              <a:tabLst>
                <a:tab pos="194945" algn="l"/>
              </a:tabLst>
            </a:pPr>
            <a:r>
              <a:rPr sz="2400" dirty="0">
                <a:latin typeface="Times New Roman"/>
                <a:cs typeface="Times New Roman"/>
              </a:rPr>
              <a:t>Implemented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cutoff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computation</a:t>
            </a:r>
            <a:endParaRPr sz="2400" dirty="0">
              <a:latin typeface="Times New Roman"/>
              <a:cs typeface="Times New Roman"/>
            </a:endParaRPr>
          </a:p>
          <a:p>
            <a:pPr marL="194945" indent="-182245">
              <a:lnSpc>
                <a:spcPts val="2875"/>
              </a:lnSpc>
              <a:buChar char="•"/>
              <a:tabLst>
                <a:tab pos="194945" algn="l"/>
              </a:tabLst>
            </a:pPr>
            <a:r>
              <a:rPr sz="2400" dirty="0">
                <a:latin typeface="Times New Roman"/>
                <a:cs typeface="Times New Roman"/>
              </a:rPr>
              <a:t>Designed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rule-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eligibility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filtering</a:t>
            </a:r>
            <a:endParaRPr sz="2400" dirty="0">
              <a:latin typeface="Times New Roman"/>
              <a:cs typeface="Times New Roman"/>
            </a:endParaRPr>
          </a:p>
          <a:p>
            <a:pPr marL="194945" indent="-182245">
              <a:lnSpc>
                <a:spcPts val="2875"/>
              </a:lnSpc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Integrated college and scholarship recommendation</a:t>
            </a:r>
          </a:p>
          <a:p>
            <a:pPr marL="194945" indent="-182245">
              <a:lnSpc>
                <a:spcPts val="2875"/>
              </a:lnSpc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Provided fast and transparent decision-support system</a:t>
            </a:r>
          </a:p>
          <a:p>
            <a:pPr marL="12700">
              <a:lnSpc>
                <a:spcPts val="2875"/>
              </a:lnSpc>
              <a:tabLst>
                <a:tab pos="194945" algn="l"/>
              </a:tabLst>
            </a:pP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Future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Work</a:t>
            </a:r>
            <a:endParaRPr sz="2400" dirty="0">
              <a:latin typeface="Times New Roman"/>
              <a:cs typeface="Times New Roman"/>
            </a:endParaRPr>
          </a:p>
          <a:p>
            <a:pPr marL="194945" indent="-182245">
              <a:lnSpc>
                <a:spcPts val="2875"/>
              </a:lnSpc>
              <a:buChar char="•"/>
              <a:tabLst>
                <a:tab pos="194945" algn="l"/>
              </a:tabLst>
            </a:pP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integration</a:t>
            </a:r>
            <a:endParaRPr sz="2400" dirty="0">
              <a:latin typeface="Times New Roman"/>
              <a:cs typeface="Times New Roman"/>
            </a:endParaRPr>
          </a:p>
          <a:p>
            <a:pPr marL="194945" indent="-182245">
              <a:lnSpc>
                <a:spcPts val="2875"/>
              </a:lnSpc>
              <a:buChar char="•"/>
              <a:tabLst>
                <a:tab pos="194945" algn="l"/>
              </a:tabLst>
            </a:pPr>
            <a:r>
              <a:rPr sz="2400" spc="-10" dirty="0">
                <a:latin typeface="Times New Roman"/>
                <a:cs typeface="Times New Roman"/>
              </a:rPr>
              <a:t>ML-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predictive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enhancement</a:t>
            </a:r>
            <a:endParaRPr sz="2400" dirty="0">
              <a:latin typeface="Times New Roman"/>
              <a:cs typeface="Times New Roman"/>
            </a:endParaRPr>
          </a:p>
          <a:p>
            <a:pPr marL="194945" indent="-182245">
              <a:lnSpc>
                <a:spcPts val="2875"/>
              </a:lnSpc>
              <a:buChar char="•"/>
              <a:tabLst>
                <a:tab pos="19494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Include other examinations for college prediction (e.g., JEE, NEET)</a:t>
            </a:r>
          </a:p>
          <a:p>
            <a:pPr marL="194945" indent="-182245">
              <a:lnSpc>
                <a:spcPts val="2875"/>
              </a:lnSpc>
              <a:buChar char="•"/>
              <a:tabLst>
                <a:tab pos="194945" algn="l"/>
              </a:tabLst>
            </a:pPr>
            <a:r>
              <a:rPr sz="2400" dirty="0" smtClean="0">
                <a:latin typeface="Times New Roman"/>
                <a:cs typeface="Times New Roman"/>
              </a:rPr>
              <a:t>Mobile</a:t>
            </a:r>
            <a:r>
              <a:rPr sz="2400" spc="-50" dirty="0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development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0145" y="1524000"/>
            <a:ext cx="8920480" cy="5963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6" marR="27305">
              <a:lnSpc>
                <a:spcPct val="997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IN" sz="2000" dirty="0" smtClean="0">
                <a:latin typeface="Times New Roman"/>
                <a:cs typeface="Times New Roman"/>
              </a:rPr>
              <a:t>[1] S. </a:t>
            </a:r>
            <a:r>
              <a:rPr lang="en-IN" sz="2000" dirty="0" err="1" smtClean="0">
                <a:latin typeface="Times New Roman"/>
                <a:cs typeface="Times New Roman"/>
              </a:rPr>
              <a:t>Rizwan</a:t>
            </a:r>
            <a:r>
              <a:rPr lang="en-IN" sz="2000" dirty="0" smtClean="0">
                <a:latin typeface="Times New Roman"/>
                <a:cs typeface="Times New Roman"/>
              </a:rPr>
              <a:t>, M. A. Khan, and A. </a:t>
            </a:r>
            <a:r>
              <a:rPr lang="en-IN" sz="2000" dirty="0" err="1" smtClean="0">
                <a:latin typeface="Times New Roman"/>
                <a:cs typeface="Times New Roman"/>
              </a:rPr>
              <a:t>Rehman</a:t>
            </a:r>
            <a:r>
              <a:rPr lang="en-IN" sz="2000" dirty="0" smtClean="0">
                <a:latin typeface="Times New Roman"/>
                <a:cs typeface="Times New Roman"/>
              </a:rPr>
              <a:t>, “Machine learning in educational data mining: Current trends and emerging gaps in predicting student performance,” IEEE Access, vol. 13, pp. 10234–10250, 2025.</a:t>
            </a:r>
          </a:p>
          <a:p>
            <a:pPr marL="12066" marR="27305">
              <a:lnSpc>
                <a:spcPct val="99700"/>
              </a:lnSpc>
              <a:spcBef>
                <a:spcPts val="100"/>
              </a:spcBef>
              <a:tabLst>
                <a:tab pos="469900" algn="l"/>
              </a:tabLst>
            </a:pPr>
            <a:endParaRPr lang="en-IN" sz="2000" dirty="0" smtClean="0">
              <a:latin typeface="Times New Roman"/>
              <a:cs typeface="Times New Roman"/>
            </a:endParaRPr>
          </a:p>
          <a:p>
            <a:pPr marL="12066" marR="27305">
              <a:lnSpc>
                <a:spcPct val="997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IN" sz="2000" dirty="0" smtClean="0">
                <a:latin typeface="Times New Roman"/>
                <a:cs typeface="Times New Roman"/>
              </a:rPr>
              <a:t>[2] S. </a:t>
            </a:r>
            <a:r>
              <a:rPr lang="en-IN" sz="2000" dirty="0" err="1" smtClean="0">
                <a:latin typeface="Times New Roman"/>
                <a:cs typeface="Times New Roman"/>
              </a:rPr>
              <a:t>Boujmiraz</a:t>
            </a:r>
            <a:r>
              <a:rPr lang="en-IN" sz="2000" dirty="0" smtClean="0">
                <a:latin typeface="Times New Roman"/>
                <a:cs typeface="Times New Roman"/>
              </a:rPr>
              <a:t>, A. </a:t>
            </a:r>
            <a:r>
              <a:rPr lang="en-IN" sz="2000" dirty="0" err="1" smtClean="0">
                <a:latin typeface="Times New Roman"/>
                <a:cs typeface="Times New Roman"/>
              </a:rPr>
              <a:t>Cherkaoui</a:t>
            </a:r>
            <a:r>
              <a:rPr lang="en-IN" sz="2000" dirty="0" smtClean="0">
                <a:latin typeface="Times New Roman"/>
                <a:cs typeface="Times New Roman"/>
              </a:rPr>
              <a:t>, and H. </a:t>
            </a:r>
            <a:r>
              <a:rPr lang="en-IN" sz="2000" dirty="0" err="1" smtClean="0">
                <a:latin typeface="Times New Roman"/>
                <a:cs typeface="Times New Roman"/>
              </a:rPr>
              <a:t>Tairi</a:t>
            </a:r>
            <a:r>
              <a:rPr lang="en-IN" sz="2000" dirty="0" smtClean="0">
                <a:latin typeface="Times New Roman"/>
                <a:cs typeface="Times New Roman"/>
              </a:rPr>
              <a:t>, “Educational data mining for predicting students’ academic performance using machine learning algorithms,” Materials Today: Proceedings, vol. 80, pp. 1234–1240, 2026.</a:t>
            </a:r>
          </a:p>
          <a:p>
            <a:pPr marL="12066" marR="27305">
              <a:lnSpc>
                <a:spcPct val="99700"/>
              </a:lnSpc>
              <a:spcBef>
                <a:spcPts val="100"/>
              </a:spcBef>
              <a:tabLst>
                <a:tab pos="469900" algn="l"/>
              </a:tabLst>
            </a:pPr>
            <a:endParaRPr lang="en-IN" sz="2000" dirty="0" smtClean="0">
              <a:latin typeface="Times New Roman"/>
              <a:cs typeface="Times New Roman"/>
            </a:endParaRPr>
          </a:p>
          <a:p>
            <a:pPr marL="12066" marR="27305">
              <a:lnSpc>
                <a:spcPct val="997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IN" sz="2000" dirty="0" smtClean="0">
                <a:latin typeface="Times New Roman"/>
                <a:cs typeface="Times New Roman"/>
              </a:rPr>
              <a:t>[3] Y. Lou, J. Wang, and X. Li, “Performance prediction using educational data mining techniques: A comparative study,” Education and Information Technologies, Springer, 2025.</a:t>
            </a:r>
          </a:p>
          <a:p>
            <a:pPr marL="12066" marR="27305">
              <a:lnSpc>
                <a:spcPct val="99700"/>
              </a:lnSpc>
              <a:spcBef>
                <a:spcPts val="100"/>
              </a:spcBef>
              <a:tabLst>
                <a:tab pos="469900" algn="l"/>
              </a:tabLst>
            </a:pPr>
            <a:endParaRPr lang="en-IN" sz="2000" dirty="0" smtClean="0">
              <a:latin typeface="Times New Roman"/>
              <a:cs typeface="Times New Roman"/>
            </a:endParaRPr>
          </a:p>
          <a:p>
            <a:pPr marL="12066" marR="27305">
              <a:lnSpc>
                <a:spcPct val="997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IN" sz="2000" dirty="0" smtClean="0">
                <a:latin typeface="Times New Roman"/>
                <a:cs typeface="Times New Roman"/>
              </a:rPr>
              <a:t>[4] S. </a:t>
            </a:r>
            <a:r>
              <a:rPr lang="en-IN" sz="2000" dirty="0" err="1" smtClean="0">
                <a:latin typeface="Times New Roman"/>
                <a:cs typeface="Times New Roman"/>
              </a:rPr>
              <a:t>Bouallegue</a:t>
            </a:r>
            <a:r>
              <a:rPr lang="en-IN" sz="2000" dirty="0" smtClean="0">
                <a:latin typeface="Times New Roman"/>
                <a:cs typeface="Times New Roman"/>
              </a:rPr>
              <a:t>, M. B. Halima, and A. M. </a:t>
            </a:r>
            <a:r>
              <a:rPr lang="en-IN" sz="2000" dirty="0" err="1" smtClean="0">
                <a:latin typeface="Times New Roman"/>
                <a:cs typeface="Times New Roman"/>
              </a:rPr>
              <a:t>Alimi</a:t>
            </a:r>
            <a:r>
              <a:rPr lang="en-IN" sz="2000" dirty="0" smtClean="0">
                <a:latin typeface="Times New Roman"/>
                <a:cs typeface="Times New Roman"/>
              </a:rPr>
              <a:t>, “Machine learning approaches for early student performance prediction,” Information Sciences, vol. 660, pp. 120–135, 2026.</a:t>
            </a:r>
          </a:p>
          <a:p>
            <a:pPr marL="12066" marR="27305">
              <a:lnSpc>
                <a:spcPct val="99700"/>
              </a:lnSpc>
              <a:spcBef>
                <a:spcPts val="100"/>
              </a:spcBef>
              <a:tabLst>
                <a:tab pos="469900" algn="l"/>
              </a:tabLst>
            </a:pPr>
            <a:endParaRPr lang="en-IN" sz="2000" dirty="0" smtClean="0">
              <a:latin typeface="Times New Roman"/>
              <a:cs typeface="Times New Roman"/>
            </a:endParaRPr>
          </a:p>
          <a:p>
            <a:pPr marL="12066" marR="27305">
              <a:lnSpc>
                <a:spcPct val="99700"/>
              </a:lnSpc>
              <a:spcBef>
                <a:spcPts val="100"/>
              </a:spcBef>
              <a:tabLst>
                <a:tab pos="469900" algn="l"/>
              </a:tabLst>
            </a:pPr>
            <a:r>
              <a:rPr lang="en-IN" sz="2000" dirty="0" smtClean="0">
                <a:latin typeface="Times New Roman"/>
                <a:cs typeface="Times New Roman"/>
              </a:rPr>
              <a:t>[5] A. Kulkarni and V. </a:t>
            </a:r>
            <a:r>
              <a:rPr lang="en-IN" sz="2000" dirty="0" err="1" smtClean="0">
                <a:latin typeface="Times New Roman"/>
                <a:cs typeface="Times New Roman"/>
              </a:rPr>
              <a:t>Patil</a:t>
            </a:r>
            <a:r>
              <a:rPr lang="en-IN" sz="2000" dirty="0" smtClean="0">
                <a:latin typeface="Times New Roman"/>
                <a:cs typeface="Times New Roman"/>
              </a:rPr>
              <a:t>, “Data-driven admission prediction systems for higher education: A structured approach,” Computers &amp; Education: Artificial Intelligence, vol. 6, 100198, 2024.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39561" y="114299"/>
            <a:ext cx="4418965" cy="7542530"/>
            <a:chOff x="5639561" y="114299"/>
            <a:chExt cx="4418965" cy="7542530"/>
          </a:xfrm>
        </p:grpSpPr>
        <p:sp>
          <p:nvSpPr>
            <p:cNvPr id="3" name="object 3"/>
            <p:cNvSpPr/>
            <p:nvPr/>
          </p:nvSpPr>
          <p:spPr>
            <a:xfrm>
              <a:off x="5639549" y="114299"/>
              <a:ext cx="4418965" cy="7542530"/>
            </a:xfrm>
            <a:custGeom>
              <a:avLst/>
              <a:gdLst/>
              <a:ahLst/>
              <a:cxnLst/>
              <a:rect l="l" t="t" r="r" b="b"/>
              <a:pathLst>
                <a:path w="4418965" h="7542530">
                  <a:moveTo>
                    <a:pt x="4418850" y="4593856"/>
                  </a:moveTo>
                  <a:lnTo>
                    <a:pt x="3086722" y="5482247"/>
                  </a:lnTo>
                  <a:lnTo>
                    <a:pt x="2113026" y="0"/>
                  </a:lnTo>
                  <a:lnTo>
                    <a:pt x="2103882" y="0"/>
                  </a:lnTo>
                  <a:lnTo>
                    <a:pt x="2103882" y="1524"/>
                  </a:lnTo>
                  <a:lnTo>
                    <a:pt x="3078315" y="5487848"/>
                  </a:lnTo>
                  <a:lnTo>
                    <a:pt x="2286" y="7539228"/>
                  </a:lnTo>
                  <a:lnTo>
                    <a:pt x="762" y="7540752"/>
                  </a:lnTo>
                  <a:lnTo>
                    <a:pt x="0" y="7542276"/>
                  </a:lnTo>
                  <a:lnTo>
                    <a:pt x="16002" y="7542276"/>
                  </a:lnTo>
                  <a:lnTo>
                    <a:pt x="3080080" y="5497804"/>
                  </a:lnTo>
                  <a:lnTo>
                    <a:pt x="3443211" y="7542289"/>
                  </a:lnTo>
                  <a:lnTo>
                    <a:pt x="3452622" y="7542289"/>
                  </a:lnTo>
                  <a:lnTo>
                    <a:pt x="3088500" y="5492191"/>
                  </a:lnTo>
                  <a:lnTo>
                    <a:pt x="4418850" y="4604524"/>
                  </a:lnTo>
                  <a:lnTo>
                    <a:pt x="4418850" y="4593856"/>
                  </a:lnTo>
                  <a:close/>
                </a:path>
              </a:pathLst>
            </a:custGeom>
            <a:solidFill>
              <a:srgbClr val="5ECAEF">
                <a:alpha val="69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82349" y="114299"/>
              <a:ext cx="2476500" cy="7542530"/>
            </a:xfrm>
            <a:custGeom>
              <a:avLst/>
              <a:gdLst/>
              <a:ahLst/>
              <a:cxnLst/>
              <a:rect l="l" t="t" r="r" b="b"/>
              <a:pathLst>
                <a:path w="2476500" h="7542530">
                  <a:moveTo>
                    <a:pt x="2476050" y="7542276"/>
                  </a:moveTo>
                  <a:lnTo>
                    <a:pt x="0" y="7542276"/>
                  </a:lnTo>
                  <a:lnTo>
                    <a:pt x="2224590" y="0"/>
                  </a:lnTo>
                  <a:lnTo>
                    <a:pt x="2476050" y="10233"/>
                  </a:lnTo>
                  <a:lnTo>
                    <a:pt x="2476050" y="7542276"/>
                  </a:lnTo>
                  <a:close/>
                </a:path>
              </a:pathLst>
            </a:custGeom>
            <a:solidFill>
              <a:srgbClr val="5ECAEF">
                <a:alpha val="3593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26401" y="114299"/>
              <a:ext cx="2132330" cy="7542530"/>
            </a:xfrm>
            <a:custGeom>
              <a:avLst/>
              <a:gdLst/>
              <a:ahLst/>
              <a:cxnLst/>
              <a:rect l="l" t="t" r="r" b="b"/>
              <a:pathLst>
                <a:path w="2132329" h="7542530">
                  <a:moveTo>
                    <a:pt x="2131998" y="7542276"/>
                  </a:moveTo>
                  <a:lnTo>
                    <a:pt x="1320963" y="7542276"/>
                  </a:lnTo>
                  <a:lnTo>
                    <a:pt x="0" y="0"/>
                  </a:lnTo>
                  <a:lnTo>
                    <a:pt x="2131998" y="0"/>
                  </a:lnTo>
                  <a:lnTo>
                    <a:pt x="2131998" y="7542276"/>
                  </a:lnTo>
                  <a:close/>
                </a:path>
              </a:pathLst>
            </a:custGeom>
            <a:solidFill>
              <a:srgbClr val="5ECAEF">
                <a:alpha val="19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04308" y="4429006"/>
              <a:ext cx="2754630" cy="3227705"/>
            </a:xfrm>
            <a:custGeom>
              <a:avLst/>
              <a:gdLst/>
              <a:ahLst/>
              <a:cxnLst/>
              <a:rect l="l" t="t" r="r" b="b"/>
              <a:pathLst>
                <a:path w="2754629" h="3227704">
                  <a:moveTo>
                    <a:pt x="2754092" y="3227570"/>
                  </a:moveTo>
                  <a:lnTo>
                    <a:pt x="0" y="3227570"/>
                  </a:lnTo>
                  <a:lnTo>
                    <a:pt x="2754092" y="0"/>
                  </a:lnTo>
                  <a:lnTo>
                    <a:pt x="2754092" y="3227570"/>
                  </a:lnTo>
                  <a:close/>
                </a:path>
              </a:pathLst>
            </a:custGeom>
            <a:solidFill>
              <a:srgbClr val="16AFE4">
                <a:alpha val="6562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13912" y="114299"/>
              <a:ext cx="2345055" cy="7542530"/>
            </a:xfrm>
            <a:custGeom>
              <a:avLst/>
              <a:gdLst/>
              <a:ahLst/>
              <a:cxnLst/>
              <a:rect l="l" t="t" r="r" b="b"/>
              <a:pathLst>
                <a:path w="2345054" h="7542530">
                  <a:moveTo>
                    <a:pt x="2092255" y="7542276"/>
                  </a:moveTo>
                  <a:lnTo>
                    <a:pt x="2039276" y="7542276"/>
                  </a:lnTo>
                  <a:lnTo>
                    <a:pt x="0" y="0"/>
                  </a:lnTo>
                  <a:lnTo>
                    <a:pt x="2344488" y="0"/>
                  </a:lnTo>
                  <a:lnTo>
                    <a:pt x="2344488" y="7534965"/>
                  </a:lnTo>
                  <a:lnTo>
                    <a:pt x="2092255" y="7542276"/>
                  </a:lnTo>
                  <a:close/>
                </a:path>
              </a:pathLst>
            </a:custGeom>
            <a:solidFill>
              <a:srgbClr val="16AFE4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25862" y="114299"/>
              <a:ext cx="932815" cy="7542530"/>
            </a:xfrm>
            <a:custGeom>
              <a:avLst/>
              <a:gdLst/>
              <a:ahLst/>
              <a:cxnLst/>
              <a:rect l="l" t="t" r="r" b="b"/>
              <a:pathLst>
                <a:path w="932815" h="7542530">
                  <a:moveTo>
                    <a:pt x="932537" y="7542276"/>
                  </a:moveTo>
                  <a:lnTo>
                    <a:pt x="0" y="7542276"/>
                  </a:lnTo>
                  <a:lnTo>
                    <a:pt x="744182" y="0"/>
                  </a:lnTo>
                  <a:lnTo>
                    <a:pt x="932537" y="0"/>
                  </a:lnTo>
                  <a:lnTo>
                    <a:pt x="932537" y="7542276"/>
                  </a:lnTo>
                  <a:close/>
                </a:path>
              </a:pathLst>
            </a:custGeom>
            <a:solidFill>
              <a:srgbClr val="2D83C3">
                <a:alpha val="6992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05981" y="114299"/>
              <a:ext cx="1152525" cy="7542530"/>
            </a:xfrm>
            <a:custGeom>
              <a:avLst/>
              <a:gdLst/>
              <a:ahLst/>
              <a:cxnLst/>
              <a:rect l="l" t="t" r="r" b="b"/>
              <a:pathLst>
                <a:path w="1152525" h="7542530">
                  <a:moveTo>
                    <a:pt x="1152418" y="7542276"/>
                  </a:moveTo>
                  <a:lnTo>
                    <a:pt x="1030290" y="7542276"/>
                  </a:lnTo>
                  <a:lnTo>
                    <a:pt x="0" y="0"/>
                  </a:lnTo>
                  <a:lnTo>
                    <a:pt x="1152418" y="0"/>
                  </a:lnTo>
                  <a:lnTo>
                    <a:pt x="1152418" y="7542276"/>
                  </a:lnTo>
                  <a:close/>
                </a:path>
              </a:pathLst>
            </a:custGeom>
            <a:solidFill>
              <a:srgbClr val="236291">
                <a:alpha val="816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876621" y="5524561"/>
              <a:ext cx="1182370" cy="2132330"/>
            </a:xfrm>
            <a:custGeom>
              <a:avLst/>
              <a:gdLst/>
              <a:ahLst/>
              <a:cxnLst/>
              <a:rect l="l" t="t" r="r" b="b"/>
              <a:pathLst>
                <a:path w="1182370" h="2132329">
                  <a:moveTo>
                    <a:pt x="300087" y="2132014"/>
                  </a:moveTo>
                  <a:lnTo>
                    <a:pt x="0" y="2132014"/>
                  </a:lnTo>
                  <a:lnTo>
                    <a:pt x="1181779" y="0"/>
                  </a:lnTo>
                  <a:lnTo>
                    <a:pt x="1181779" y="2127550"/>
                  </a:lnTo>
                  <a:lnTo>
                    <a:pt x="300087" y="2132014"/>
                  </a:lnTo>
                  <a:close/>
                </a:path>
              </a:pathLst>
            </a:custGeom>
            <a:solidFill>
              <a:srgbClr val="16AFE4">
                <a:alpha val="6562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762199" y="3489417"/>
            <a:ext cx="2825115" cy="572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Thank</a:t>
            </a:r>
            <a:r>
              <a:rPr spc="-30" dirty="0"/>
              <a:t> 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</TotalTime>
  <Words>1054</Words>
  <Application>Microsoft Office PowerPoint</Application>
  <PresentationFormat>Custom</PresentationFormat>
  <Paragraphs>247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Deterministic College and Scholarship Prediction Using Structured CAP Cutoff Data</vt:lpstr>
      <vt:lpstr>Outline</vt:lpstr>
      <vt:lpstr>Introduction</vt:lpstr>
      <vt:lpstr>Introduction</vt:lpstr>
      <vt:lpstr>Literature Survey</vt:lpstr>
      <vt:lpstr>Literature Survey</vt:lpstr>
      <vt:lpstr>Limitations of existing Systems</vt:lpstr>
      <vt:lpstr>Problem statement and Objectives</vt:lpstr>
      <vt:lpstr>Proposed Methodology</vt:lpstr>
      <vt:lpstr>Proposed Methodology</vt:lpstr>
      <vt:lpstr>Proposed Methodology</vt:lpstr>
      <vt:lpstr>Experimental Setup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Conclusion and Future work</vt:lpstr>
      <vt:lpstr>References</vt:lpstr>
      <vt:lpstr>Thank You...!!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Mini Project Review -1 Presentation_Template [Compatibility Mode]</dc:title>
  <dc:creator>Sandeep</dc:creator>
  <cp:lastModifiedBy>Microsoft account</cp:lastModifiedBy>
  <cp:revision>15</cp:revision>
  <cp:lastPrinted>2026-03-19T14:36:24Z</cp:lastPrinted>
  <dcterms:created xsi:type="dcterms:W3CDTF">2026-02-13T05:30:12Z</dcterms:created>
  <dcterms:modified xsi:type="dcterms:W3CDTF">2026-03-20T08:26:55Z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2026-02-12T00:00:00Z</vt:filetime>
  </property>
  <property fmtid="{D5CDD505-2E9C-101B-9397-08002B2CF9AE}" pid="3" name="LastSaved">
    <vt:filetime>2026-02-13T00:00:00Z</vt:filetime>
  </property>
  <property fmtid="{D5CDD505-2E9C-101B-9397-08002B2CF9AE}" pid="4" name="Producer">
    <vt:lpwstr>Microsoft: Print To PDF</vt:lpwstr>
  </property>
</Properties>
</file>